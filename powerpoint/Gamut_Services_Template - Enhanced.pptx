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A</c:v>
                </c:pt>
              </c:strCache>
            </c:strRef>
          </c:tx>
          <c:spPr>
            <a:solidFill>
              <a:srgbClr val="0E5A66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58</c:v>
                </c:pt>
                <c:pt idx="2">
                  <c:v>71</c:v>
                </c:pt>
                <c:pt idx="3">
                  <c:v>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40-46F6-B4EF-2C5DFA3318C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B</c:v>
                </c:pt>
              </c:strCache>
            </c:strRef>
          </c:tx>
          <c:spPr>
            <a:solidFill>
              <a:srgbClr val="C97B3C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35</c:v>
                </c:pt>
                <c:pt idx="1">
                  <c:v>41</c:v>
                </c:pt>
                <c:pt idx="2">
                  <c:v>52</c:v>
                </c:pt>
                <c:pt idx="3">
                  <c:v>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740-46F6-B4EF-2C5DFA3318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DE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2A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FBFA7E-EBBD-44B8-835D-A19E6DB8C627}" type="datetimeFigureOut">
              <a:t>6/25/2026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734A81-7220-461C-BE98-52DAA950A0B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434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MASTER">
    <p:bg>
      <p:bgPr>
        <a:solidFill>
          <a:srgbClr val="0A44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97B3C"/>
          </a:solidFill>
          <a:ln/>
        </p:spPr>
      </p:sp>
      <p:pic>
        <p:nvPicPr>
          <p:cNvPr id="3" name="Image 0" descr="/home/claude/gamut/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2194560" cy="5486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0E5A6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 SERVICES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46520"/>
            <a:ext cx="11094415" cy="10973"/>
          </a:xfrm>
          <a:prstGeom prst="rect">
            <a:avLst/>
          </a:prstGeom>
          <a:solidFill>
            <a:srgbClr val="D6DEE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 Services  · 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19695" y="65105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gamutservices.com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510528"/>
            <a:ext cx="3200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MASTER">
    <p:bg>
      <p:bgPr>
        <a:solidFill>
          <a:srgbClr val="0E5A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gamut/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219456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852160"/>
            <a:ext cx="548640" cy="54864"/>
          </a:xfrm>
          <a:prstGeom prst="rect">
            <a:avLst/>
          </a:prstGeom>
          <a:solidFill>
            <a:srgbClr val="C97B3C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A44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97B3C"/>
          </a:solidFill>
          <a:ln/>
        </p:spPr>
      </p:sp>
      <p:pic>
        <p:nvPicPr>
          <p:cNvPr id="4" name="Image 0" descr="/home/claude/gamut/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219456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297680"/>
            <a:ext cx="914400" cy="45720"/>
          </a:xfrm>
          <a:prstGeom prst="rect">
            <a:avLst/>
          </a:prstGeom>
          <a:solidFill>
            <a:srgbClr val="C97B3C"/>
          </a:solidFill>
          <a:ln/>
        </p:spPr>
      </p:sp>
      <p:sp>
        <p:nvSpPr>
          <p:cNvPr id="6" name="Text 0"/>
          <p:cNvSpPr>
            <a:spLocks noGrp="1"/>
          </p:cNvSpPr>
          <p:nvPr>
            <p:ph type="title"/>
          </p:nvPr>
        </p:nvSpPr>
        <p:spPr>
          <a:xfrm>
            <a:off x="548640" y="23774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Title</a:t>
            </a:r>
            <a:endParaRPr lang="en-US" sz="5400" dirty="0"/>
          </a:p>
        </p:txBody>
      </p:sp>
      <p:sp>
        <p:nvSpPr>
          <p:cNvPr id="7" name="Text 1"/>
          <p:cNvSpPr>
            <a:spLocks noGrp="1"/>
          </p:cNvSpPr>
          <p:nvPr>
            <p:ph type="body" idx="10"/>
          </p:nvPr>
        </p:nvSpPr>
        <p:spPr>
          <a:xfrm>
            <a:off x="548640" y="35204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FC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descriptive subtitle that frames the topic for your audience</a:t>
            </a:r>
            <a:endParaRPr lang="en-US" sz="2000" dirty="0"/>
          </a:p>
        </p:txBody>
      </p:sp>
      <p:sp>
        <p:nvSpPr>
          <p:cNvPr id="8" name="Text 3"/>
          <p:cNvSpPr>
            <a:spLocks noGrp="1"/>
          </p:cNvSpPr>
          <p:nvPr>
            <p:ph type="body" idx="11"/>
          </p:nvPr>
        </p:nvSpPr>
        <p:spPr>
          <a:xfrm>
            <a:off x="548640" y="45720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8F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Name  ·  Role  ·  Date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0E5A66"/>
          </a:solidFill>
          <a:ln/>
        </p:spPr>
      </p:sp>
      <p:sp>
        <p:nvSpPr>
          <p:cNvPr id="4" name="Text 1"/>
          <p:cNvSpPr/>
          <p:nvPr/>
        </p:nvSpPr>
        <p:spPr>
          <a:xfrm>
            <a:off x="777240" y="365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 SERVICES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6446520"/>
            <a:ext cx="11094415" cy="10973"/>
          </a:xfrm>
          <a:prstGeom prst="rect">
            <a:avLst/>
          </a:prstGeom>
          <a:solidFill>
            <a:srgbClr val="D6DEE2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 Services  ·  Confidential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619695" y="65105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gamutservices.com</a:t>
            </a:r>
            <a:endParaRPr lang="en-US" sz="9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510528"/>
            <a:ext cx="3200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1554480" y="3154680"/>
            <a:ext cx="9601200" cy="7315"/>
          </a:xfrm>
          <a:prstGeom prst="rect">
            <a:avLst/>
          </a:prstGeom>
          <a:solidFill>
            <a:srgbClr val="D6DEE2"/>
          </a:solidFill>
          <a:ln/>
        </p:spPr>
      </p:sp>
      <p:sp>
        <p:nvSpPr>
          <p:cNvPr id="10" name="Shape 9"/>
          <p:cNvSpPr/>
          <p:nvPr/>
        </p:nvSpPr>
        <p:spPr>
          <a:xfrm>
            <a:off x="1554480" y="4023360"/>
            <a:ext cx="9601200" cy="7315"/>
          </a:xfrm>
          <a:prstGeom prst="rect">
            <a:avLst/>
          </a:prstGeom>
          <a:solidFill>
            <a:srgbClr val="D6DEE2"/>
          </a:solidFill>
          <a:ln/>
        </p:spPr>
      </p:sp>
      <p:sp>
        <p:nvSpPr>
          <p:cNvPr id="11" name="Shape 13"/>
          <p:cNvSpPr/>
          <p:nvPr/>
        </p:nvSpPr>
        <p:spPr>
          <a:xfrm>
            <a:off x="1554480" y="4892040"/>
            <a:ext cx="9601200" cy="7315"/>
          </a:xfrm>
          <a:prstGeom prst="rect">
            <a:avLst/>
          </a:prstGeom>
          <a:solidFill>
            <a:srgbClr val="D6DEE2"/>
          </a:solidFill>
          <a:ln/>
        </p:spPr>
      </p:sp>
      <p:sp>
        <p:nvSpPr>
          <p:cNvPr id="12" name="Text 0"/>
          <p:cNvSpPr>
            <a:spLocks noGrp="1"/>
          </p:cNvSpPr>
          <p:nvPr>
            <p:ph type="title"/>
          </p:nvPr>
        </p:nvSpPr>
        <p:spPr>
          <a:xfrm>
            <a:off x="548640" y="868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4000" dirty="0"/>
          </a:p>
        </p:txBody>
      </p:sp>
      <p:sp>
        <p:nvSpPr>
          <p:cNvPr id="13" name="Text 1"/>
          <p:cNvSpPr>
            <a:spLocks noGrp="1"/>
          </p:cNvSpPr>
          <p:nvPr>
            <p:ph type="body" idx="10"/>
          </p:nvPr>
        </p:nvSpPr>
        <p:spPr>
          <a:xfrm>
            <a:off x="548640" y="1600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this with a one-line framing of the talk.</a:t>
            </a:r>
            <a:endParaRPr lang="en-US" sz="1400" dirty="0"/>
          </a:p>
        </p:txBody>
      </p:sp>
      <p:sp>
        <p:nvSpPr>
          <p:cNvPr id="14" name="Text 2"/>
          <p:cNvSpPr>
            <a:spLocks noGrp="1"/>
          </p:cNvSpPr>
          <p:nvPr>
            <p:ph type="body" idx="11"/>
          </p:nvPr>
        </p:nvSpPr>
        <p:spPr>
          <a:xfrm>
            <a:off x="548640" y="23774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7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15" name="Text 3"/>
          <p:cNvSpPr>
            <a:spLocks noGrp="1"/>
          </p:cNvSpPr>
          <p:nvPr>
            <p:ph type="body" idx="12"/>
          </p:nvPr>
        </p:nvSpPr>
        <p:spPr>
          <a:xfrm>
            <a:off x="155448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One</a:t>
            </a:r>
            <a:endParaRPr lang="en-US" sz="1800" dirty="0"/>
          </a:p>
        </p:txBody>
      </p:sp>
      <p:sp>
        <p:nvSpPr>
          <p:cNvPr id="16" name="Text 4"/>
          <p:cNvSpPr>
            <a:spLocks noGrp="1"/>
          </p:cNvSpPr>
          <p:nvPr>
            <p:ph type="body" idx="13"/>
          </p:nvPr>
        </p:nvSpPr>
        <p:spPr>
          <a:xfrm>
            <a:off x="1554480" y="2743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description of what this section covers</a:t>
            </a:r>
            <a:endParaRPr lang="en-US" sz="1200" dirty="0"/>
          </a:p>
        </p:txBody>
      </p:sp>
      <p:sp>
        <p:nvSpPr>
          <p:cNvPr id="17" name="Text 6"/>
          <p:cNvSpPr>
            <a:spLocks noGrp="1"/>
          </p:cNvSpPr>
          <p:nvPr>
            <p:ph type="body" idx="14"/>
          </p:nvPr>
        </p:nvSpPr>
        <p:spPr>
          <a:xfrm>
            <a:off x="548640" y="32461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7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8" name="Text 7"/>
          <p:cNvSpPr>
            <a:spLocks noGrp="1"/>
          </p:cNvSpPr>
          <p:nvPr>
            <p:ph type="body" idx="15"/>
          </p:nvPr>
        </p:nvSpPr>
        <p:spPr>
          <a:xfrm>
            <a:off x="1554480" y="3246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Two</a:t>
            </a:r>
            <a:endParaRPr lang="en-US" sz="1800" dirty="0"/>
          </a:p>
        </p:txBody>
      </p:sp>
      <p:sp>
        <p:nvSpPr>
          <p:cNvPr id="19" name="Text 8"/>
          <p:cNvSpPr>
            <a:spLocks noGrp="1"/>
          </p:cNvSpPr>
          <p:nvPr>
            <p:ph type="body" idx="16"/>
          </p:nvPr>
        </p:nvSpPr>
        <p:spPr>
          <a:xfrm>
            <a:off x="1554480" y="3611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description of what this section covers</a:t>
            </a:r>
            <a:endParaRPr lang="en-US" sz="1200" dirty="0"/>
          </a:p>
        </p:txBody>
      </p:sp>
      <p:sp>
        <p:nvSpPr>
          <p:cNvPr id="20" name="Text 10"/>
          <p:cNvSpPr>
            <a:spLocks noGrp="1"/>
          </p:cNvSpPr>
          <p:nvPr>
            <p:ph type="body" idx="17"/>
          </p:nvPr>
        </p:nvSpPr>
        <p:spPr>
          <a:xfrm>
            <a:off x="548640" y="41148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7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21" name="Text 11"/>
          <p:cNvSpPr>
            <a:spLocks noGrp="1"/>
          </p:cNvSpPr>
          <p:nvPr>
            <p:ph type="body" idx="18"/>
          </p:nvPr>
        </p:nvSpPr>
        <p:spPr>
          <a:xfrm>
            <a:off x="155448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Three</a:t>
            </a:r>
            <a:endParaRPr lang="en-US" sz="1800" dirty="0"/>
          </a:p>
        </p:txBody>
      </p:sp>
      <p:sp>
        <p:nvSpPr>
          <p:cNvPr id="22" name="Text 12"/>
          <p:cNvSpPr>
            <a:spLocks noGrp="1"/>
          </p:cNvSpPr>
          <p:nvPr>
            <p:ph type="body" idx="19"/>
          </p:nvPr>
        </p:nvSpPr>
        <p:spPr>
          <a:xfrm>
            <a:off x="1554480" y="4480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description of what this section covers</a:t>
            </a:r>
            <a:endParaRPr lang="en-US" sz="1200" dirty="0"/>
          </a:p>
        </p:txBody>
      </p:sp>
      <p:sp>
        <p:nvSpPr>
          <p:cNvPr id="23" name="Text 14"/>
          <p:cNvSpPr>
            <a:spLocks noGrp="1"/>
          </p:cNvSpPr>
          <p:nvPr>
            <p:ph type="body" idx="20"/>
          </p:nvPr>
        </p:nvSpPr>
        <p:spPr>
          <a:xfrm>
            <a:off x="548640" y="49834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7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200" dirty="0"/>
          </a:p>
        </p:txBody>
      </p:sp>
      <p:sp>
        <p:nvSpPr>
          <p:cNvPr id="24" name="Text 15"/>
          <p:cNvSpPr>
            <a:spLocks noGrp="1"/>
          </p:cNvSpPr>
          <p:nvPr>
            <p:ph type="body" idx="21"/>
          </p:nvPr>
        </p:nvSpPr>
        <p:spPr>
          <a:xfrm>
            <a:off x="1554480" y="4983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Four</a:t>
            </a:r>
            <a:endParaRPr lang="en-US" sz="1800" dirty="0"/>
          </a:p>
        </p:txBody>
      </p:sp>
      <p:sp>
        <p:nvSpPr>
          <p:cNvPr id="25" name="Text 16"/>
          <p:cNvSpPr>
            <a:spLocks noGrp="1"/>
          </p:cNvSpPr>
          <p:nvPr>
            <p:ph type="body" idx="22"/>
          </p:nvPr>
        </p:nvSpPr>
        <p:spPr>
          <a:xfrm>
            <a:off x="1554480" y="5349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description of what this section covers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Divider">
    <p:bg>
      <p:bgPr>
        <a:solidFill>
          <a:srgbClr val="0E5A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gamut/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2194560" cy="54864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48640" y="5852160"/>
            <a:ext cx="548640" cy="54864"/>
          </a:xfrm>
          <a:prstGeom prst="rect">
            <a:avLst/>
          </a:prstGeom>
          <a:solidFill>
            <a:srgbClr val="C97B3C"/>
          </a:solidFill>
          <a:ln/>
        </p:spPr>
      </p:sp>
      <p:sp>
        <p:nvSpPr>
          <p:cNvPr id="5" name="Text 0"/>
          <p:cNvSpPr>
            <a:spLocks noGrp="1"/>
          </p:cNvSpPr>
          <p:nvPr>
            <p:ph type="title"/>
          </p:nvPr>
        </p:nvSpPr>
        <p:spPr>
          <a:xfrm>
            <a:off x="548640" y="21031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C97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6000" dirty="0"/>
          </a:p>
        </p:txBody>
      </p:sp>
      <p:sp>
        <p:nvSpPr>
          <p:cNvPr id="6" name="Text 1"/>
          <p:cNvSpPr>
            <a:spLocks noGrp="1"/>
          </p:cNvSpPr>
          <p:nvPr>
            <p:ph type="body" idx="10"/>
          </p:nvPr>
        </p:nvSpPr>
        <p:spPr>
          <a:xfrm>
            <a:off x="548640" y="31089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Title</a:t>
            </a:r>
            <a:endParaRPr lang="en-US" sz="4800" dirty="0"/>
          </a:p>
        </p:txBody>
      </p:sp>
      <p:sp>
        <p:nvSpPr>
          <p:cNvPr id="7" name="Text 2"/>
          <p:cNvSpPr>
            <a:spLocks noGrp="1"/>
          </p:cNvSpPr>
          <p:nvPr>
            <p:ph type="body" idx="11"/>
          </p:nvPr>
        </p:nvSpPr>
        <p:spPr>
          <a:xfrm>
            <a:off x="548640" y="42062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FC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supporting line that previews the section.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0E5A66"/>
          </a:solidFill>
          <a:ln/>
        </p:spPr>
      </p:sp>
      <p:sp>
        <p:nvSpPr>
          <p:cNvPr id="4" name="Text 1"/>
          <p:cNvSpPr/>
          <p:nvPr/>
        </p:nvSpPr>
        <p:spPr>
          <a:xfrm>
            <a:off x="777240" y="365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 SERVICES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6446520"/>
            <a:ext cx="11094415" cy="10973"/>
          </a:xfrm>
          <a:prstGeom prst="rect">
            <a:avLst/>
          </a:prstGeom>
          <a:solidFill>
            <a:srgbClr val="D6DEE2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 Services  ·  Confidential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619695" y="65105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gamutservices.com</a:t>
            </a:r>
            <a:endParaRPr lang="en-US" sz="9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510528"/>
            <a:ext cx="3200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9" name="Text 0"/>
          <p:cNvSpPr>
            <a:spLocks noGrp="1"/>
          </p:cNvSpPr>
          <p:nvPr>
            <p:ph type="title"/>
          </p:nvPr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Title and Content Layout</a:t>
            </a:r>
            <a:endParaRPr lang="en-US" sz="3200" dirty="0"/>
          </a:p>
        </p:txBody>
      </p:sp>
      <p:sp>
        <p:nvSpPr>
          <p:cNvPr id="10" name="Text 1"/>
          <p:cNvSpPr>
            <a:spLocks noGrp="1"/>
          </p:cNvSpPr>
          <p:nvPr>
            <p:ph type="body" idx="10"/>
          </p:nvPr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layout for explanatory content with supporting bullet points.</a:t>
            </a:r>
            <a:endParaRPr lang="en-US" sz="1400" dirty="0"/>
          </a:p>
        </p:txBody>
      </p:sp>
      <p:sp>
        <p:nvSpPr>
          <p:cNvPr id="11" name="Text 2"/>
          <p:cNvSpPr>
            <a:spLocks noGrp="1"/>
          </p:cNvSpPr>
          <p:nvPr>
            <p:ph type="body" idx="11"/>
          </p:nvPr>
        </p:nvSpPr>
        <p:spPr>
          <a:xfrm>
            <a:off x="548640" y="2194560"/>
            <a:ext cx="10972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key point — keep each line to a single idea so the audience can scan.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key point — short bullets read better than long paragraphs on a slide.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key point — aim for three to five bullets per slide as a working ceiling.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Fourth key point — sub-points should support, not duplicate, the parent.</a:t>
            </a:r>
            <a:endParaRPr lang="en-US" sz="1600" dirty="0"/>
          </a:p>
          <a:p>
            <a:pPr marL="685800" lvl="1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nested supporting detail under the parent bullet above.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0E5A66"/>
          </a:solidFill>
          <a:ln/>
        </p:spPr>
      </p:sp>
      <p:sp>
        <p:nvSpPr>
          <p:cNvPr id="4" name="Text 1"/>
          <p:cNvSpPr/>
          <p:nvPr/>
        </p:nvSpPr>
        <p:spPr>
          <a:xfrm>
            <a:off x="777240" y="365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 SERVICES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6446520"/>
            <a:ext cx="11094415" cy="10973"/>
          </a:xfrm>
          <a:prstGeom prst="rect">
            <a:avLst/>
          </a:prstGeom>
          <a:solidFill>
            <a:srgbClr val="D6DEE2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 Services  ·  Confidential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619695" y="65105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gamutservices.com</a:t>
            </a:r>
            <a:endParaRPr lang="en-US" sz="9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510528"/>
            <a:ext cx="3200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9" name="Shape 2"/>
          <p:cNvSpPr/>
          <p:nvPr/>
        </p:nvSpPr>
        <p:spPr>
          <a:xfrm>
            <a:off x="548640" y="2194560"/>
            <a:ext cx="54864" cy="365760"/>
          </a:xfrm>
          <a:prstGeom prst="rect">
            <a:avLst/>
          </a:prstGeom>
          <a:solidFill>
            <a:srgbClr val="0E5A66"/>
          </a:solidFill>
          <a:ln/>
        </p:spPr>
      </p:sp>
      <p:sp>
        <p:nvSpPr>
          <p:cNvPr id="10" name="Shape 5"/>
          <p:cNvSpPr/>
          <p:nvPr/>
        </p:nvSpPr>
        <p:spPr>
          <a:xfrm>
            <a:off x="6355080" y="2194560"/>
            <a:ext cx="54864" cy="365760"/>
          </a:xfrm>
          <a:prstGeom prst="rect">
            <a:avLst/>
          </a:prstGeom>
          <a:solidFill>
            <a:srgbClr val="C97B3C"/>
          </a:solidFill>
          <a:ln/>
        </p:spPr>
      </p:sp>
      <p:sp>
        <p:nvSpPr>
          <p:cNvPr id="11" name="Text 0"/>
          <p:cNvSpPr>
            <a:spLocks noGrp="1"/>
          </p:cNvSpPr>
          <p:nvPr>
            <p:ph type="title"/>
          </p:nvPr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Two-Column Layout</a:t>
            </a:r>
            <a:endParaRPr lang="en-US" sz="3200" dirty="0"/>
          </a:p>
        </p:txBody>
      </p:sp>
      <p:sp>
        <p:nvSpPr>
          <p:cNvPr id="12" name="Text 1"/>
          <p:cNvSpPr>
            <a:spLocks noGrp="1"/>
          </p:cNvSpPr>
          <p:nvPr>
            <p:ph type="body" idx="10"/>
          </p:nvPr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two ideas side by side, or pair narrative with supporting detail.</a:t>
            </a:r>
            <a:endParaRPr lang="en-US" sz="1400" dirty="0"/>
          </a:p>
        </p:txBody>
      </p:sp>
      <p:sp>
        <p:nvSpPr>
          <p:cNvPr id="13" name="Text 3"/>
          <p:cNvSpPr>
            <a:spLocks noGrp="1"/>
          </p:cNvSpPr>
          <p:nvPr>
            <p:ph type="body" idx="11"/>
          </p:nvPr>
        </p:nvSpPr>
        <p:spPr>
          <a:xfrm>
            <a:off x="731520" y="2148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Column One</a:t>
            </a:r>
            <a:endParaRPr lang="en-US" sz="2000" dirty="0"/>
          </a:p>
        </p:txBody>
      </p:sp>
      <p:sp>
        <p:nvSpPr>
          <p:cNvPr id="14" name="Text 4"/>
          <p:cNvSpPr>
            <a:spLocks noGrp="1"/>
          </p:cNvSpPr>
          <p:nvPr>
            <p:ph type="body" idx="12"/>
          </p:nvPr>
        </p:nvSpPr>
        <p:spPr>
          <a:xfrm>
            <a:off x="731520" y="2697480"/>
            <a:ext cx="52120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framing paragraph that introduces the left-hand topic.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point one.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point two.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point three.</a:t>
            </a:r>
            <a:endParaRPr lang="en-US" sz="1400" dirty="0"/>
          </a:p>
        </p:txBody>
      </p:sp>
      <p:sp>
        <p:nvSpPr>
          <p:cNvPr id="15" name="Text 6"/>
          <p:cNvSpPr>
            <a:spLocks noGrp="1"/>
          </p:cNvSpPr>
          <p:nvPr>
            <p:ph type="body" idx="13"/>
          </p:nvPr>
        </p:nvSpPr>
        <p:spPr>
          <a:xfrm>
            <a:off x="6537960" y="2148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Column Two</a:t>
            </a:r>
            <a:endParaRPr lang="en-US" sz="2000" dirty="0"/>
          </a:p>
        </p:txBody>
      </p:sp>
      <p:sp>
        <p:nvSpPr>
          <p:cNvPr id="16" name="Text 7"/>
          <p:cNvSpPr>
            <a:spLocks noGrp="1"/>
          </p:cNvSpPr>
          <p:nvPr>
            <p:ph type="body" idx="14"/>
          </p:nvPr>
        </p:nvSpPr>
        <p:spPr>
          <a:xfrm>
            <a:off x="6537960" y="2697480"/>
            <a:ext cx="52120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framing paragraph that introduces the right-hand topic.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point one.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point two.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point three.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Key Metric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0E5A66"/>
          </a:solidFill>
          <a:ln/>
        </p:spPr>
      </p:sp>
      <p:sp>
        <p:nvSpPr>
          <p:cNvPr id="4" name="Text 1"/>
          <p:cNvSpPr/>
          <p:nvPr/>
        </p:nvSpPr>
        <p:spPr>
          <a:xfrm>
            <a:off x="777240" y="365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 SERVICES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6446520"/>
            <a:ext cx="11094415" cy="10973"/>
          </a:xfrm>
          <a:prstGeom prst="rect">
            <a:avLst/>
          </a:prstGeom>
          <a:solidFill>
            <a:srgbClr val="D6DEE2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 Services  ·  Confidential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619695" y="65105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gamutservices.com</a:t>
            </a:r>
            <a:endParaRPr lang="en-US" sz="9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510528"/>
            <a:ext cx="3200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9" name="Shape 2"/>
          <p:cNvSpPr/>
          <p:nvPr/>
        </p:nvSpPr>
        <p:spPr>
          <a:xfrm>
            <a:off x="518008" y="2468880"/>
            <a:ext cx="3566160" cy="3291840"/>
          </a:xfrm>
          <a:prstGeom prst="rect">
            <a:avLst/>
          </a:prstGeom>
          <a:solidFill>
            <a:srgbClr val="F4F6F7"/>
          </a:solidFill>
          <a:ln w="6350">
            <a:solidFill>
              <a:srgbClr val="D6DEE2"/>
            </a:solidFill>
            <a:prstDash val="solid"/>
          </a:ln>
        </p:spPr>
      </p:sp>
      <p:sp>
        <p:nvSpPr>
          <p:cNvPr id="10" name="Shape 3"/>
          <p:cNvSpPr/>
          <p:nvPr/>
        </p:nvSpPr>
        <p:spPr>
          <a:xfrm>
            <a:off x="518008" y="2468880"/>
            <a:ext cx="3566160" cy="73152"/>
          </a:xfrm>
          <a:prstGeom prst="rect">
            <a:avLst/>
          </a:prstGeom>
          <a:solidFill>
            <a:srgbClr val="0E5A66"/>
          </a:solidFill>
          <a:ln/>
        </p:spPr>
      </p:sp>
      <p:sp>
        <p:nvSpPr>
          <p:cNvPr id="11" name="Shape 7"/>
          <p:cNvSpPr/>
          <p:nvPr/>
        </p:nvSpPr>
        <p:spPr>
          <a:xfrm>
            <a:off x="4312768" y="2468880"/>
            <a:ext cx="3566160" cy="3291840"/>
          </a:xfrm>
          <a:prstGeom prst="rect">
            <a:avLst/>
          </a:prstGeom>
          <a:solidFill>
            <a:srgbClr val="F4F6F7"/>
          </a:solidFill>
          <a:ln w="6350">
            <a:solidFill>
              <a:srgbClr val="D6DEE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312768" y="2468880"/>
            <a:ext cx="3566160" cy="73152"/>
          </a:xfrm>
          <a:prstGeom prst="rect">
            <a:avLst/>
          </a:prstGeom>
          <a:solidFill>
            <a:srgbClr val="1F8A99"/>
          </a:solidFill>
          <a:ln/>
        </p:spPr>
      </p:sp>
      <p:sp>
        <p:nvSpPr>
          <p:cNvPr id="13" name="Shape 12"/>
          <p:cNvSpPr/>
          <p:nvPr/>
        </p:nvSpPr>
        <p:spPr>
          <a:xfrm>
            <a:off x="8107528" y="2468880"/>
            <a:ext cx="3566160" cy="3291840"/>
          </a:xfrm>
          <a:prstGeom prst="rect">
            <a:avLst/>
          </a:prstGeom>
          <a:solidFill>
            <a:srgbClr val="F4F6F7"/>
          </a:solidFill>
          <a:ln w="6350">
            <a:solidFill>
              <a:srgbClr val="D6DEE2"/>
            </a:solidFill>
            <a:prstDash val="solid"/>
          </a:ln>
        </p:spPr>
      </p:sp>
      <p:sp>
        <p:nvSpPr>
          <p:cNvPr id="14" name="Shape 13"/>
          <p:cNvSpPr/>
          <p:nvPr/>
        </p:nvSpPr>
        <p:spPr>
          <a:xfrm>
            <a:off x="8107528" y="2468880"/>
            <a:ext cx="3566160" cy="73152"/>
          </a:xfrm>
          <a:prstGeom prst="rect">
            <a:avLst/>
          </a:prstGeom>
          <a:solidFill>
            <a:srgbClr val="C97B3C"/>
          </a:solidFill>
          <a:ln/>
        </p:spPr>
      </p:sp>
      <p:sp>
        <p:nvSpPr>
          <p:cNvPr id="15" name="Text 0"/>
          <p:cNvSpPr>
            <a:spLocks noGrp="1"/>
          </p:cNvSpPr>
          <p:nvPr>
            <p:ph type="title"/>
          </p:nvPr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Metrics Layout</a:t>
            </a:r>
            <a:endParaRPr lang="en-US" sz="3200" dirty="0"/>
          </a:p>
        </p:txBody>
      </p:sp>
      <p:sp>
        <p:nvSpPr>
          <p:cNvPr id="16" name="Text 1"/>
          <p:cNvSpPr>
            <a:spLocks noGrp="1"/>
          </p:cNvSpPr>
          <p:nvPr>
            <p:ph type="body" idx="10"/>
          </p:nvPr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large stat callouts work well to open or close a section.</a:t>
            </a:r>
            <a:endParaRPr lang="en-US" sz="1400" dirty="0"/>
          </a:p>
        </p:txBody>
      </p:sp>
      <p:sp>
        <p:nvSpPr>
          <p:cNvPr id="17" name="Text 4"/>
          <p:cNvSpPr>
            <a:spLocks noGrp="1"/>
          </p:cNvSpPr>
          <p:nvPr>
            <p:ph type="body" idx="11"/>
          </p:nvPr>
        </p:nvSpPr>
        <p:spPr>
          <a:xfrm>
            <a:off x="792328" y="27432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E5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92%</a:t>
            </a:r>
            <a:endParaRPr lang="en-US" sz="6000" dirty="0"/>
          </a:p>
        </p:txBody>
      </p:sp>
      <p:sp>
        <p:nvSpPr>
          <p:cNvPr id="18" name="Text 5"/>
          <p:cNvSpPr>
            <a:spLocks noGrp="1"/>
          </p:cNvSpPr>
          <p:nvPr>
            <p:ph type="body" idx="12"/>
          </p:nvPr>
        </p:nvSpPr>
        <p:spPr>
          <a:xfrm>
            <a:off x="792328" y="4160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statistic</a:t>
            </a:r>
            <a:endParaRPr lang="en-US" sz="1400" dirty="0"/>
          </a:p>
        </p:txBody>
      </p:sp>
      <p:sp>
        <p:nvSpPr>
          <p:cNvPr id="19" name="Text 6"/>
          <p:cNvSpPr>
            <a:spLocks noGrp="1"/>
          </p:cNvSpPr>
          <p:nvPr>
            <p:ph type="body" idx="13"/>
          </p:nvPr>
        </p:nvSpPr>
        <p:spPr>
          <a:xfrm>
            <a:off x="792328" y="45262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qualifier explaining what this measures.</a:t>
            </a:r>
            <a:endParaRPr lang="en-US" sz="1200" dirty="0"/>
          </a:p>
        </p:txBody>
      </p:sp>
      <p:sp>
        <p:nvSpPr>
          <p:cNvPr id="20" name="Text 9"/>
          <p:cNvSpPr>
            <a:spLocks noGrp="1"/>
          </p:cNvSpPr>
          <p:nvPr>
            <p:ph type="body" idx="14"/>
          </p:nvPr>
        </p:nvSpPr>
        <p:spPr>
          <a:xfrm>
            <a:off x="4587088" y="27432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E5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3.4x</a:t>
            </a:r>
            <a:endParaRPr lang="en-US" sz="6000" dirty="0"/>
          </a:p>
        </p:txBody>
      </p:sp>
      <p:sp>
        <p:nvSpPr>
          <p:cNvPr id="21" name="Text 10"/>
          <p:cNvSpPr>
            <a:spLocks noGrp="1"/>
          </p:cNvSpPr>
          <p:nvPr>
            <p:ph type="body" idx="15"/>
          </p:nvPr>
        </p:nvSpPr>
        <p:spPr>
          <a:xfrm>
            <a:off x="4587088" y="4160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metric</a:t>
            </a:r>
            <a:endParaRPr lang="en-US" sz="1400" dirty="0"/>
          </a:p>
        </p:txBody>
      </p:sp>
      <p:sp>
        <p:nvSpPr>
          <p:cNvPr id="22" name="Text 11"/>
          <p:cNvSpPr>
            <a:spLocks noGrp="1"/>
          </p:cNvSpPr>
          <p:nvPr>
            <p:ph type="body" idx="16"/>
          </p:nvPr>
        </p:nvSpPr>
        <p:spPr>
          <a:xfrm>
            <a:off x="4587088" y="45262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qualifier explaining what this measures.</a:t>
            </a:r>
            <a:endParaRPr lang="en-US" sz="1200" dirty="0"/>
          </a:p>
        </p:txBody>
      </p:sp>
      <p:sp>
        <p:nvSpPr>
          <p:cNvPr id="23" name="Text 14"/>
          <p:cNvSpPr>
            <a:spLocks noGrp="1"/>
          </p:cNvSpPr>
          <p:nvPr>
            <p:ph type="body" idx="17"/>
          </p:nvPr>
        </p:nvSpPr>
        <p:spPr>
          <a:xfrm>
            <a:off x="8381848" y="27432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E5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$1.2B</a:t>
            </a:r>
            <a:endParaRPr lang="en-US" sz="6000" dirty="0"/>
          </a:p>
        </p:txBody>
      </p:sp>
      <p:sp>
        <p:nvSpPr>
          <p:cNvPr id="24" name="Text 15"/>
          <p:cNvSpPr>
            <a:spLocks noGrp="1"/>
          </p:cNvSpPr>
          <p:nvPr>
            <p:ph type="body" idx="18"/>
          </p:nvPr>
        </p:nvSpPr>
        <p:spPr>
          <a:xfrm>
            <a:off x="8381848" y="4160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 metric</a:t>
            </a:r>
            <a:endParaRPr lang="en-US" sz="1400" dirty="0"/>
          </a:p>
        </p:txBody>
      </p:sp>
      <p:sp>
        <p:nvSpPr>
          <p:cNvPr id="25" name="Text 16"/>
          <p:cNvSpPr>
            <a:spLocks noGrp="1"/>
          </p:cNvSpPr>
          <p:nvPr>
            <p:ph type="body" idx="19"/>
          </p:nvPr>
        </p:nvSpPr>
        <p:spPr>
          <a:xfrm>
            <a:off x="8381848" y="45262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qualifier explaining what this measures.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0E5A66"/>
          </a:solidFill>
          <a:ln/>
        </p:spPr>
      </p:sp>
      <p:sp>
        <p:nvSpPr>
          <p:cNvPr id="4" name="Text 1"/>
          <p:cNvSpPr/>
          <p:nvPr/>
        </p:nvSpPr>
        <p:spPr>
          <a:xfrm>
            <a:off x="777240" y="365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 SERVICES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6446520"/>
            <a:ext cx="11094415" cy="10973"/>
          </a:xfrm>
          <a:prstGeom prst="rect">
            <a:avLst/>
          </a:prstGeom>
          <a:solidFill>
            <a:srgbClr val="D6DEE2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 Services  ·  Confidential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619695" y="65105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gamutservices.com</a:t>
            </a:r>
            <a:endParaRPr lang="en-US" sz="9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510528"/>
            <a:ext cx="3200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9" name="Shape 2"/>
          <p:cNvSpPr/>
          <p:nvPr/>
        </p:nvSpPr>
        <p:spPr>
          <a:xfrm>
            <a:off x="8412480" y="2194560"/>
            <a:ext cx="3200400" cy="4023360"/>
          </a:xfrm>
          <a:prstGeom prst="rect">
            <a:avLst/>
          </a:prstGeom>
          <a:solidFill>
            <a:srgbClr val="F4F6F7"/>
          </a:solidFill>
          <a:ln/>
        </p:spPr>
      </p:sp>
      <p:sp>
        <p:nvSpPr>
          <p:cNvPr id="10" name="Shape 3"/>
          <p:cNvSpPr/>
          <p:nvPr/>
        </p:nvSpPr>
        <p:spPr>
          <a:xfrm>
            <a:off x="8412480" y="2194560"/>
            <a:ext cx="73152" cy="4023360"/>
          </a:xfrm>
          <a:prstGeom prst="rect">
            <a:avLst/>
          </a:prstGeom>
          <a:solidFill>
            <a:srgbClr val="0E5A66"/>
          </a:solidFill>
          <a:ln/>
        </p:spPr>
      </p:sp>
      <p:sp>
        <p:nvSpPr>
          <p:cNvPr id="11" name="Text 0"/>
          <p:cNvSpPr>
            <a:spLocks noGrp="1"/>
          </p:cNvSpPr>
          <p:nvPr>
            <p:ph type="title"/>
          </p:nvPr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Chart Layout</a:t>
            </a:r>
            <a:endParaRPr lang="en-US" sz="3200" dirty="0"/>
          </a:p>
        </p:txBody>
      </p:sp>
      <p:sp>
        <p:nvSpPr>
          <p:cNvPr id="12" name="Text 1"/>
          <p:cNvSpPr>
            <a:spLocks noGrp="1"/>
          </p:cNvSpPr>
          <p:nvPr>
            <p:ph type="body" idx="10"/>
          </p:nvPr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use the brand palette. Replace data values in the embedded Excel.</a:t>
            </a:r>
            <a:endParaRPr lang="en-US" sz="1400" dirty="0"/>
          </a:p>
        </p:txBody>
      </p:sp>
      <p:sp>
        <p:nvSpPr>
          <p:cNvPr id="13" name="Text 4"/>
          <p:cNvSpPr>
            <a:spLocks noGrp="1"/>
          </p:cNvSpPr>
          <p:nvPr>
            <p:ph type="body" idx="11"/>
          </p:nvPr>
        </p:nvSpPr>
        <p:spPr>
          <a:xfrm>
            <a:off x="8641080" y="2377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14" name="Text 5"/>
          <p:cNvSpPr>
            <a:spLocks noGrp="1"/>
          </p:cNvSpPr>
          <p:nvPr>
            <p:ph type="body" idx="12"/>
          </p:nvPr>
        </p:nvSpPr>
        <p:spPr>
          <a:xfrm>
            <a:off x="8641080" y="2743200"/>
            <a:ext cx="2834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Replace this with the single most important insight from the chart — what should the audience walk away knowing?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0E5A66"/>
          </a:solidFill>
          <a:ln/>
        </p:spPr>
      </p:sp>
      <p:sp>
        <p:nvSpPr>
          <p:cNvPr id="4" name="Text 1"/>
          <p:cNvSpPr/>
          <p:nvPr/>
        </p:nvSpPr>
        <p:spPr>
          <a:xfrm>
            <a:off x="777240" y="365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 SERVICES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6446520"/>
            <a:ext cx="11094415" cy="10973"/>
          </a:xfrm>
          <a:prstGeom prst="rect">
            <a:avLst/>
          </a:prstGeom>
          <a:solidFill>
            <a:srgbClr val="D6DEE2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 Services  ·  Confidential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619695" y="65105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gamutservices.com</a:t>
            </a:r>
            <a:endParaRPr lang="en-US" sz="9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510528"/>
            <a:ext cx="3200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9" name="Text 0"/>
          <p:cNvSpPr>
            <a:spLocks noGrp="1"/>
          </p:cNvSpPr>
          <p:nvPr>
            <p:ph type="title"/>
          </p:nvPr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Layout</a:t>
            </a:r>
            <a:endParaRPr lang="en-US" sz="3200" dirty="0"/>
          </a:p>
        </p:txBody>
      </p:sp>
      <p:sp>
        <p:nvSpPr>
          <p:cNvPr id="10" name="Text 1"/>
          <p:cNvSpPr>
            <a:spLocks noGrp="1"/>
          </p:cNvSpPr>
          <p:nvPr>
            <p:ph type="body" idx="10"/>
          </p:nvPr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tables for structured comparisons. Header uses brand primary.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our-U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0E5A66"/>
          </a:solidFill>
          <a:ln/>
        </p:spPr>
      </p:sp>
      <p:sp>
        <p:nvSpPr>
          <p:cNvPr id="4" name="Text 1"/>
          <p:cNvSpPr/>
          <p:nvPr/>
        </p:nvSpPr>
        <p:spPr>
          <a:xfrm>
            <a:off x="777240" y="365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 SERVICES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6446520"/>
            <a:ext cx="11094415" cy="10973"/>
          </a:xfrm>
          <a:prstGeom prst="rect">
            <a:avLst/>
          </a:prstGeom>
          <a:solidFill>
            <a:srgbClr val="D6DEE2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 Services  ·  Confidential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619695" y="65105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gamutservices.com</a:t>
            </a:r>
            <a:endParaRPr lang="en-US" sz="9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510528"/>
            <a:ext cx="3200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9" name="Shape 2"/>
          <p:cNvSpPr/>
          <p:nvPr/>
        </p:nvSpPr>
        <p:spPr>
          <a:xfrm>
            <a:off x="548640" y="2331720"/>
            <a:ext cx="5440680" cy="1874520"/>
          </a:xfrm>
          <a:prstGeom prst="rect">
            <a:avLst/>
          </a:prstGeom>
          <a:solidFill>
            <a:srgbClr val="F4F6F7"/>
          </a:solidFill>
          <a:ln/>
        </p:spPr>
      </p:sp>
      <p:sp>
        <p:nvSpPr>
          <p:cNvPr id="10" name="Shape 3"/>
          <p:cNvSpPr/>
          <p:nvPr/>
        </p:nvSpPr>
        <p:spPr>
          <a:xfrm>
            <a:off x="822960" y="2606040"/>
            <a:ext cx="640080" cy="640080"/>
          </a:xfrm>
          <a:prstGeom prst="ellipse">
            <a:avLst/>
          </a:prstGeom>
          <a:solidFill>
            <a:srgbClr val="0E5A66"/>
          </a:solidFill>
          <a:ln/>
        </p:spPr>
      </p:sp>
      <p:sp>
        <p:nvSpPr>
          <p:cNvPr id="11" name="Shape 7"/>
          <p:cNvSpPr/>
          <p:nvPr/>
        </p:nvSpPr>
        <p:spPr>
          <a:xfrm>
            <a:off x="6172200" y="2331720"/>
            <a:ext cx="5440680" cy="1874520"/>
          </a:xfrm>
          <a:prstGeom prst="rect">
            <a:avLst/>
          </a:prstGeom>
          <a:solidFill>
            <a:srgbClr val="F4F6F7"/>
          </a:solidFill>
          <a:ln/>
        </p:spPr>
      </p:sp>
      <p:sp>
        <p:nvSpPr>
          <p:cNvPr id="12" name="Shape 8"/>
          <p:cNvSpPr/>
          <p:nvPr/>
        </p:nvSpPr>
        <p:spPr>
          <a:xfrm>
            <a:off x="6446520" y="2606040"/>
            <a:ext cx="640080" cy="640080"/>
          </a:xfrm>
          <a:prstGeom prst="ellipse">
            <a:avLst/>
          </a:prstGeom>
          <a:solidFill>
            <a:srgbClr val="0E5A66"/>
          </a:solidFill>
          <a:ln/>
        </p:spPr>
      </p:sp>
      <p:sp>
        <p:nvSpPr>
          <p:cNvPr id="13" name="Shape 12"/>
          <p:cNvSpPr/>
          <p:nvPr/>
        </p:nvSpPr>
        <p:spPr>
          <a:xfrm>
            <a:off x="548640" y="4389120"/>
            <a:ext cx="5440680" cy="1874520"/>
          </a:xfrm>
          <a:prstGeom prst="rect">
            <a:avLst/>
          </a:prstGeom>
          <a:solidFill>
            <a:srgbClr val="F4F6F7"/>
          </a:solidFill>
          <a:ln/>
        </p:spPr>
      </p:sp>
      <p:sp>
        <p:nvSpPr>
          <p:cNvPr id="14" name="Shape 13"/>
          <p:cNvSpPr/>
          <p:nvPr/>
        </p:nvSpPr>
        <p:spPr>
          <a:xfrm>
            <a:off x="822960" y="4663440"/>
            <a:ext cx="640080" cy="640080"/>
          </a:xfrm>
          <a:prstGeom prst="ellipse">
            <a:avLst/>
          </a:prstGeom>
          <a:solidFill>
            <a:srgbClr val="0E5A66"/>
          </a:solidFill>
          <a:ln/>
        </p:spPr>
      </p:sp>
      <p:sp>
        <p:nvSpPr>
          <p:cNvPr id="15" name="Shape 17"/>
          <p:cNvSpPr/>
          <p:nvPr/>
        </p:nvSpPr>
        <p:spPr>
          <a:xfrm>
            <a:off x="6172200" y="4389120"/>
            <a:ext cx="5440680" cy="1874520"/>
          </a:xfrm>
          <a:prstGeom prst="rect">
            <a:avLst/>
          </a:prstGeom>
          <a:solidFill>
            <a:srgbClr val="F4F6F7"/>
          </a:solidFill>
          <a:ln/>
        </p:spPr>
      </p:sp>
      <p:sp>
        <p:nvSpPr>
          <p:cNvPr id="16" name="Shape 18"/>
          <p:cNvSpPr/>
          <p:nvPr/>
        </p:nvSpPr>
        <p:spPr>
          <a:xfrm>
            <a:off x="6446520" y="4663440"/>
            <a:ext cx="640080" cy="640080"/>
          </a:xfrm>
          <a:prstGeom prst="ellipse">
            <a:avLst/>
          </a:prstGeom>
          <a:solidFill>
            <a:srgbClr val="0E5A66"/>
          </a:solidFill>
          <a:ln/>
        </p:spPr>
      </p:sp>
      <p:sp>
        <p:nvSpPr>
          <p:cNvPr id="17" name="Text 0"/>
          <p:cNvSpPr>
            <a:spLocks noGrp="1"/>
          </p:cNvSpPr>
          <p:nvPr>
            <p:ph type="title"/>
          </p:nvPr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Four-Up Layout</a:t>
            </a:r>
            <a:endParaRPr lang="en-US" sz="3200" dirty="0"/>
          </a:p>
        </p:txBody>
      </p:sp>
      <p:sp>
        <p:nvSpPr>
          <p:cNvPr id="18" name="Text 1"/>
          <p:cNvSpPr>
            <a:spLocks noGrp="1"/>
          </p:cNvSpPr>
          <p:nvPr>
            <p:ph type="body" idx="10"/>
          </p:nvPr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service offerings, capabilities, or a set of related concepts.</a:t>
            </a:r>
            <a:endParaRPr lang="en-US" sz="1400" dirty="0"/>
          </a:p>
        </p:txBody>
      </p:sp>
      <p:sp>
        <p:nvSpPr>
          <p:cNvPr id="19" name="Text 4"/>
          <p:cNvSpPr>
            <a:spLocks noGrp="1"/>
          </p:cNvSpPr>
          <p:nvPr>
            <p:ph type="body" idx="11"/>
          </p:nvPr>
        </p:nvSpPr>
        <p:spPr>
          <a:xfrm>
            <a:off x="82296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20" name="Text 5"/>
          <p:cNvSpPr>
            <a:spLocks noGrp="1"/>
          </p:cNvSpPr>
          <p:nvPr>
            <p:ph type="body" idx="12"/>
          </p:nvPr>
        </p:nvSpPr>
        <p:spPr>
          <a:xfrm>
            <a:off x="1600200" y="262432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Capability One</a:t>
            </a:r>
            <a:endParaRPr lang="en-US" sz="2000" dirty="0"/>
          </a:p>
        </p:txBody>
      </p:sp>
      <p:sp>
        <p:nvSpPr>
          <p:cNvPr id="21" name="Text 6"/>
          <p:cNvSpPr>
            <a:spLocks noGrp="1"/>
          </p:cNvSpPr>
          <p:nvPr>
            <p:ph type="body" idx="13"/>
          </p:nvPr>
        </p:nvSpPr>
        <p:spPr>
          <a:xfrm>
            <a:off x="1600200" y="320040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 or two-sentence description of this capability and the value it delivers.</a:t>
            </a:r>
            <a:endParaRPr lang="en-US" sz="1300" dirty="0"/>
          </a:p>
        </p:txBody>
      </p:sp>
      <p:sp>
        <p:nvSpPr>
          <p:cNvPr id="22" name="Text 9"/>
          <p:cNvSpPr>
            <a:spLocks noGrp="1"/>
          </p:cNvSpPr>
          <p:nvPr>
            <p:ph type="body" idx="14"/>
          </p:nvPr>
        </p:nvSpPr>
        <p:spPr>
          <a:xfrm>
            <a:off x="644652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23" name="Text 10"/>
          <p:cNvSpPr>
            <a:spLocks noGrp="1"/>
          </p:cNvSpPr>
          <p:nvPr>
            <p:ph type="body" idx="15"/>
          </p:nvPr>
        </p:nvSpPr>
        <p:spPr>
          <a:xfrm>
            <a:off x="7223760" y="262432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Capability Two</a:t>
            </a:r>
            <a:endParaRPr lang="en-US" sz="2000" dirty="0"/>
          </a:p>
        </p:txBody>
      </p:sp>
      <p:sp>
        <p:nvSpPr>
          <p:cNvPr id="24" name="Text 11"/>
          <p:cNvSpPr>
            <a:spLocks noGrp="1"/>
          </p:cNvSpPr>
          <p:nvPr>
            <p:ph type="body" idx="16"/>
          </p:nvPr>
        </p:nvSpPr>
        <p:spPr>
          <a:xfrm>
            <a:off x="7223760" y="320040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 or two-sentence description of this capability and the value it delivers.</a:t>
            </a:r>
            <a:endParaRPr lang="en-US" sz="1300" dirty="0"/>
          </a:p>
        </p:txBody>
      </p:sp>
      <p:sp>
        <p:nvSpPr>
          <p:cNvPr id="25" name="Text 14"/>
          <p:cNvSpPr>
            <a:spLocks noGrp="1"/>
          </p:cNvSpPr>
          <p:nvPr>
            <p:ph type="body" idx="17"/>
          </p:nvPr>
        </p:nvSpPr>
        <p:spPr>
          <a:xfrm>
            <a:off x="822960" y="4663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Text 15"/>
          <p:cNvSpPr>
            <a:spLocks noGrp="1"/>
          </p:cNvSpPr>
          <p:nvPr>
            <p:ph type="body" idx="18"/>
          </p:nvPr>
        </p:nvSpPr>
        <p:spPr>
          <a:xfrm>
            <a:off x="1600200" y="468172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Capability Three</a:t>
            </a:r>
            <a:endParaRPr lang="en-US" sz="2000" dirty="0"/>
          </a:p>
        </p:txBody>
      </p:sp>
      <p:sp>
        <p:nvSpPr>
          <p:cNvPr id="27" name="Text 16"/>
          <p:cNvSpPr>
            <a:spLocks noGrp="1"/>
          </p:cNvSpPr>
          <p:nvPr>
            <p:ph type="body" idx="19"/>
          </p:nvPr>
        </p:nvSpPr>
        <p:spPr>
          <a:xfrm>
            <a:off x="1600200" y="525780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 or two-sentence description of this capability and the value it delivers.</a:t>
            </a:r>
            <a:endParaRPr lang="en-US" sz="1300" dirty="0"/>
          </a:p>
        </p:txBody>
      </p:sp>
      <p:sp>
        <p:nvSpPr>
          <p:cNvPr id="28" name="Text 19"/>
          <p:cNvSpPr>
            <a:spLocks noGrp="1"/>
          </p:cNvSpPr>
          <p:nvPr>
            <p:ph type="body" idx="20"/>
          </p:nvPr>
        </p:nvSpPr>
        <p:spPr>
          <a:xfrm>
            <a:off x="6446520" y="4663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0"/>
          <p:cNvSpPr>
            <a:spLocks noGrp="1"/>
          </p:cNvSpPr>
          <p:nvPr>
            <p:ph type="body" idx="21"/>
          </p:nvPr>
        </p:nvSpPr>
        <p:spPr>
          <a:xfrm>
            <a:off x="7223760" y="468172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Capability Four</a:t>
            </a:r>
            <a:endParaRPr lang="en-US" sz="2000" dirty="0"/>
          </a:p>
        </p:txBody>
      </p:sp>
      <p:sp>
        <p:nvSpPr>
          <p:cNvPr id="30" name="Text 21"/>
          <p:cNvSpPr>
            <a:spLocks noGrp="1"/>
          </p:cNvSpPr>
          <p:nvPr>
            <p:ph type="body" idx="22"/>
          </p:nvPr>
        </p:nvSpPr>
        <p:spPr>
          <a:xfrm>
            <a:off x="7223760" y="525780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 or two-sentence description of this capability and the value it delivers.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roces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0E5A66"/>
          </a:solidFill>
          <a:ln/>
        </p:spPr>
      </p:sp>
      <p:sp>
        <p:nvSpPr>
          <p:cNvPr id="4" name="Text 1"/>
          <p:cNvSpPr/>
          <p:nvPr/>
        </p:nvSpPr>
        <p:spPr>
          <a:xfrm>
            <a:off x="777240" y="365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 SERVICES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6446520"/>
            <a:ext cx="11094415" cy="10973"/>
          </a:xfrm>
          <a:prstGeom prst="rect">
            <a:avLst/>
          </a:prstGeom>
          <a:solidFill>
            <a:srgbClr val="D6DEE2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 Services  ·  Confidential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619695" y="65105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gamutservices.com</a:t>
            </a:r>
            <a:endParaRPr lang="en-US" sz="9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510528"/>
            <a:ext cx="3200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9" name="Shape 2"/>
          <p:cNvSpPr/>
          <p:nvPr/>
        </p:nvSpPr>
        <p:spPr>
          <a:xfrm>
            <a:off x="1112368" y="3474720"/>
            <a:ext cx="9966960" cy="36576"/>
          </a:xfrm>
          <a:prstGeom prst="rect">
            <a:avLst/>
          </a:prstGeom>
          <a:solidFill>
            <a:srgbClr val="D6DEE2"/>
          </a:solidFill>
          <a:ln/>
        </p:spPr>
      </p:sp>
      <p:sp>
        <p:nvSpPr>
          <p:cNvPr id="10" name="Shape 3"/>
          <p:cNvSpPr/>
          <p:nvPr/>
        </p:nvSpPr>
        <p:spPr>
          <a:xfrm>
            <a:off x="1158088" y="3017520"/>
            <a:ext cx="914400" cy="914400"/>
          </a:xfrm>
          <a:prstGeom prst="ellipse">
            <a:avLst/>
          </a:prstGeom>
          <a:solidFill>
            <a:srgbClr val="C97B3C"/>
          </a:solidFill>
          <a:ln/>
        </p:spPr>
      </p:sp>
      <p:sp>
        <p:nvSpPr>
          <p:cNvPr id="11" name="Shape 7"/>
          <p:cNvSpPr/>
          <p:nvPr/>
        </p:nvSpPr>
        <p:spPr>
          <a:xfrm>
            <a:off x="3398368" y="3017520"/>
            <a:ext cx="914400" cy="914400"/>
          </a:xfrm>
          <a:prstGeom prst="ellipse">
            <a:avLst/>
          </a:prstGeom>
          <a:solidFill>
            <a:srgbClr val="0E5A66"/>
          </a:solidFill>
          <a:ln/>
        </p:spPr>
      </p:sp>
      <p:sp>
        <p:nvSpPr>
          <p:cNvPr id="12" name="Shape 11"/>
          <p:cNvSpPr/>
          <p:nvPr/>
        </p:nvSpPr>
        <p:spPr>
          <a:xfrm>
            <a:off x="5638648" y="3017520"/>
            <a:ext cx="914400" cy="914400"/>
          </a:xfrm>
          <a:prstGeom prst="ellipse">
            <a:avLst/>
          </a:prstGeom>
          <a:solidFill>
            <a:srgbClr val="0E5A66"/>
          </a:solidFill>
          <a:ln/>
        </p:spPr>
      </p:sp>
      <p:sp>
        <p:nvSpPr>
          <p:cNvPr id="13" name="Shape 15"/>
          <p:cNvSpPr/>
          <p:nvPr/>
        </p:nvSpPr>
        <p:spPr>
          <a:xfrm>
            <a:off x="7878928" y="3017520"/>
            <a:ext cx="914400" cy="914400"/>
          </a:xfrm>
          <a:prstGeom prst="ellipse">
            <a:avLst/>
          </a:prstGeom>
          <a:solidFill>
            <a:srgbClr val="0E5A66"/>
          </a:solidFill>
          <a:ln/>
        </p:spPr>
      </p:sp>
      <p:sp>
        <p:nvSpPr>
          <p:cNvPr id="14" name="Shape 19"/>
          <p:cNvSpPr/>
          <p:nvPr/>
        </p:nvSpPr>
        <p:spPr>
          <a:xfrm>
            <a:off x="10119208" y="3017520"/>
            <a:ext cx="914400" cy="914400"/>
          </a:xfrm>
          <a:prstGeom prst="ellipse">
            <a:avLst/>
          </a:prstGeom>
          <a:solidFill>
            <a:srgbClr val="0E5A66"/>
          </a:solidFill>
          <a:ln/>
        </p:spPr>
      </p:sp>
      <p:sp>
        <p:nvSpPr>
          <p:cNvPr id="15" name="Text 0"/>
          <p:cNvSpPr>
            <a:spLocks noGrp="1"/>
          </p:cNvSpPr>
          <p:nvPr>
            <p:ph type="title"/>
          </p:nvPr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 Layout</a:t>
            </a:r>
            <a:endParaRPr lang="en-US" sz="3200" dirty="0"/>
          </a:p>
        </p:txBody>
      </p:sp>
      <p:sp>
        <p:nvSpPr>
          <p:cNvPr id="16" name="Text 1"/>
          <p:cNvSpPr>
            <a:spLocks noGrp="1"/>
          </p:cNvSpPr>
          <p:nvPr>
            <p:ph type="body" idx="10"/>
          </p:nvPr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Five-step sequence — works for methodology, phases, or a customer journey.</a:t>
            </a:r>
            <a:endParaRPr lang="en-US" sz="1400" dirty="0"/>
          </a:p>
        </p:txBody>
      </p:sp>
      <p:sp>
        <p:nvSpPr>
          <p:cNvPr id="17" name="Text 4"/>
          <p:cNvSpPr>
            <a:spLocks noGrp="1"/>
          </p:cNvSpPr>
          <p:nvPr>
            <p:ph type="body" idx="11"/>
          </p:nvPr>
        </p:nvSpPr>
        <p:spPr>
          <a:xfrm>
            <a:off x="1158088" y="3017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18" name="Text 5"/>
          <p:cNvSpPr>
            <a:spLocks noGrp="1"/>
          </p:cNvSpPr>
          <p:nvPr>
            <p:ph type="body" idx="12"/>
          </p:nvPr>
        </p:nvSpPr>
        <p:spPr>
          <a:xfrm>
            <a:off x="563728" y="4069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</a:t>
            </a:r>
            <a:endParaRPr lang="en-US" sz="1600" dirty="0"/>
          </a:p>
        </p:txBody>
      </p:sp>
      <p:sp>
        <p:nvSpPr>
          <p:cNvPr id="19" name="Text 6"/>
          <p:cNvSpPr>
            <a:spLocks noGrp="1"/>
          </p:cNvSpPr>
          <p:nvPr>
            <p:ph type="body" idx="13"/>
          </p:nvPr>
        </p:nvSpPr>
        <p:spPr>
          <a:xfrm>
            <a:off x="609448" y="45262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context and constraints.</a:t>
            </a:r>
            <a:endParaRPr lang="en-US" sz="1100" dirty="0"/>
          </a:p>
        </p:txBody>
      </p:sp>
      <p:sp>
        <p:nvSpPr>
          <p:cNvPr id="20" name="Text 8"/>
          <p:cNvSpPr>
            <a:spLocks noGrp="1"/>
          </p:cNvSpPr>
          <p:nvPr>
            <p:ph type="body" idx="14"/>
          </p:nvPr>
        </p:nvSpPr>
        <p:spPr>
          <a:xfrm>
            <a:off x="3398368" y="3017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21" name="Text 9"/>
          <p:cNvSpPr>
            <a:spLocks noGrp="1"/>
          </p:cNvSpPr>
          <p:nvPr>
            <p:ph type="body" idx="15"/>
          </p:nvPr>
        </p:nvSpPr>
        <p:spPr>
          <a:xfrm>
            <a:off x="2804008" y="4069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</a:t>
            </a:r>
            <a:endParaRPr lang="en-US" sz="1600" dirty="0"/>
          </a:p>
        </p:txBody>
      </p:sp>
      <p:sp>
        <p:nvSpPr>
          <p:cNvPr id="22" name="Text 10"/>
          <p:cNvSpPr>
            <a:spLocks noGrp="1"/>
          </p:cNvSpPr>
          <p:nvPr>
            <p:ph type="body" idx="16"/>
          </p:nvPr>
        </p:nvSpPr>
        <p:spPr>
          <a:xfrm>
            <a:off x="2849728" y="45262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the problem and success criteria.</a:t>
            </a:r>
            <a:endParaRPr lang="en-US" sz="1100" dirty="0"/>
          </a:p>
        </p:txBody>
      </p:sp>
      <p:sp>
        <p:nvSpPr>
          <p:cNvPr id="23" name="Text 12"/>
          <p:cNvSpPr>
            <a:spLocks noGrp="1"/>
          </p:cNvSpPr>
          <p:nvPr>
            <p:ph type="body" idx="17"/>
          </p:nvPr>
        </p:nvSpPr>
        <p:spPr>
          <a:xfrm>
            <a:off x="5638648" y="3017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24" name="Text 13"/>
          <p:cNvSpPr>
            <a:spLocks noGrp="1"/>
          </p:cNvSpPr>
          <p:nvPr>
            <p:ph type="body" idx="18"/>
          </p:nvPr>
        </p:nvSpPr>
        <p:spPr>
          <a:xfrm>
            <a:off x="5044288" y="4069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</a:t>
            </a:r>
            <a:endParaRPr lang="en-US" sz="1600" dirty="0"/>
          </a:p>
        </p:txBody>
      </p:sp>
      <p:sp>
        <p:nvSpPr>
          <p:cNvPr id="25" name="Text 14"/>
          <p:cNvSpPr>
            <a:spLocks noGrp="1"/>
          </p:cNvSpPr>
          <p:nvPr>
            <p:ph type="body" idx="19"/>
          </p:nvPr>
        </p:nvSpPr>
        <p:spPr>
          <a:xfrm>
            <a:off x="5090008" y="45262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options and select an approach.</a:t>
            </a:r>
            <a:endParaRPr lang="en-US" sz="1100" dirty="0"/>
          </a:p>
        </p:txBody>
      </p:sp>
      <p:sp>
        <p:nvSpPr>
          <p:cNvPr id="26" name="Text 16"/>
          <p:cNvSpPr>
            <a:spLocks noGrp="1"/>
          </p:cNvSpPr>
          <p:nvPr>
            <p:ph type="body" idx="20"/>
          </p:nvPr>
        </p:nvSpPr>
        <p:spPr>
          <a:xfrm>
            <a:off x="7878928" y="3017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27" name="Text 17"/>
          <p:cNvSpPr>
            <a:spLocks noGrp="1"/>
          </p:cNvSpPr>
          <p:nvPr>
            <p:ph type="body" idx="21"/>
          </p:nvPr>
        </p:nvSpPr>
        <p:spPr>
          <a:xfrm>
            <a:off x="7284568" y="4069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</a:t>
            </a:r>
            <a:endParaRPr lang="en-US" sz="1600" dirty="0"/>
          </a:p>
        </p:txBody>
      </p:sp>
      <p:sp>
        <p:nvSpPr>
          <p:cNvPr id="28" name="Text 18"/>
          <p:cNvSpPr>
            <a:spLocks noGrp="1"/>
          </p:cNvSpPr>
          <p:nvPr>
            <p:ph type="body" idx="22"/>
          </p:nvPr>
        </p:nvSpPr>
        <p:spPr>
          <a:xfrm>
            <a:off x="7330288" y="45262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with discipline and feedback.</a:t>
            </a:r>
            <a:endParaRPr lang="en-US" sz="1100" dirty="0"/>
          </a:p>
        </p:txBody>
      </p:sp>
      <p:sp>
        <p:nvSpPr>
          <p:cNvPr id="29" name="Text 20"/>
          <p:cNvSpPr>
            <a:spLocks noGrp="1"/>
          </p:cNvSpPr>
          <p:nvPr>
            <p:ph type="body" idx="23"/>
          </p:nvPr>
        </p:nvSpPr>
        <p:spPr>
          <a:xfrm>
            <a:off x="10119208" y="3017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30" name="Text 21"/>
          <p:cNvSpPr>
            <a:spLocks noGrp="1"/>
          </p:cNvSpPr>
          <p:nvPr>
            <p:ph type="body" idx="24"/>
          </p:nvPr>
        </p:nvSpPr>
        <p:spPr>
          <a:xfrm>
            <a:off x="9524848" y="4069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Sustain</a:t>
            </a:r>
            <a:endParaRPr lang="en-US" sz="1600" dirty="0"/>
          </a:p>
        </p:txBody>
      </p:sp>
      <p:sp>
        <p:nvSpPr>
          <p:cNvPr id="31" name="Text 22"/>
          <p:cNvSpPr>
            <a:spLocks noGrp="1"/>
          </p:cNvSpPr>
          <p:nvPr>
            <p:ph type="body" idx="25"/>
          </p:nvPr>
        </p:nvSpPr>
        <p:spPr>
          <a:xfrm>
            <a:off x="9570568" y="45262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Embed, measure, and refine over time.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0E5A66"/>
          </a:solidFill>
          <a:ln/>
        </p:spPr>
      </p:sp>
      <p:sp>
        <p:nvSpPr>
          <p:cNvPr id="4" name="Text 1"/>
          <p:cNvSpPr/>
          <p:nvPr/>
        </p:nvSpPr>
        <p:spPr>
          <a:xfrm>
            <a:off x="777240" y="365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 SERVICES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6446520"/>
            <a:ext cx="11094415" cy="10973"/>
          </a:xfrm>
          <a:prstGeom prst="rect">
            <a:avLst/>
          </a:prstGeom>
          <a:solidFill>
            <a:srgbClr val="D6DEE2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 Services  ·  Confidential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619695" y="65105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gamutservices.com</a:t>
            </a:r>
            <a:endParaRPr lang="en-US" sz="9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510528"/>
            <a:ext cx="3200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9" name="Shape 2"/>
          <p:cNvSpPr/>
          <p:nvPr/>
        </p:nvSpPr>
        <p:spPr>
          <a:xfrm>
            <a:off x="2194560" y="4480560"/>
            <a:ext cx="548640" cy="36576"/>
          </a:xfrm>
          <a:prstGeom prst="rect">
            <a:avLst/>
          </a:prstGeom>
          <a:solidFill>
            <a:srgbClr val="C97B3C"/>
          </a:solidFill>
          <a:ln/>
        </p:spPr>
      </p:sp>
      <p:sp>
        <p:nvSpPr>
          <p:cNvPr id="10" name="Text 0"/>
          <p:cNvSpPr>
            <a:spLocks noGrp="1"/>
          </p:cNvSpPr>
          <p:nvPr>
            <p:ph type="title"/>
          </p:nvPr>
        </p:nvSpPr>
        <p:spPr>
          <a:xfrm>
            <a:off x="548640" y="14630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0" b="1" dirty="0">
                <a:solidFill>
                  <a:srgbClr val="0E5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11" name="Text 1"/>
          <p:cNvSpPr>
            <a:spLocks noGrp="1"/>
          </p:cNvSpPr>
          <p:nvPr>
            <p:ph type="body" idx="10"/>
          </p:nvPr>
        </p:nvSpPr>
        <p:spPr>
          <a:xfrm>
            <a:off x="2194560" y="1828800"/>
            <a:ext cx="9418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Insert a pull quote, customer testimonial, or guiding principle here. Keep it under twenty-five words for visual impact.</a:t>
            </a:r>
            <a:endParaRPr lang="en-US" sz="2600" dirty="0"/>
          </a:p>
        </p:txBody>
      </p:sp>
      <p:sp>
        <p:nvSpPr>
          <p:cNvPr id="12" name="Text 3"/>
          <p:cNvSpPr>
            <a:spLocks noGrp="1"/>
          </p:cNvSpPr>
          <p:nvPr>
            <p:ph type="body" idx="11"/>
          </p:nvPr>
        </p:nvSpPr>
        <p:spPr>
          <a:xfrm>
            <a:off x="2194560" y="46177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Name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Organization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 / Thank You">
    <p:bg>
      <p:bgPr>
        <a:solidFill>
          <a:srgbClr val="0A44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97B3C"/>
          </a:solidFill>
          <a:ln/>
        </p:spPr>
      </p:sp>
      <p:pic>
        <p:nvPicPr>
          <p:cNvPr id="4" name="Image 0" descr="/home/claude/gamut/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2194560" cy="5486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3703320"/>
            <a:ext cx="914400" cy="45720"/>
          </a:xfrm>
          <a:prstGeom prst="rect">
            <a:avLst/>
          </a:prstGeom>
          <a:solidFill>
            <a:srgbClr val="C97B3C"/>
          </a:solidFill>
          <a:ln/>
        </p:spPr>
      </p:sp>
      <p:sp>
        <p:nvSpPr>
          <p:cNvPr id="6" name="Text 0"/>
          <p:cNvSpPr>
            <a:spLocks noGrp="1"/>
          </p:cNvSpPr>
          <p:nvPr>
            <p:ph type="title"/>
          </p:nvPr>
        </p:nvSpPr>
        <p:spPr>
          <a:xfrm>
            <a:off x="548640" y="23774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7" name="Text 2"/>
          <p:cNvSpPr>
            <a:spLocks noGrp="1"/>
          </p:cNvSpPr>
          <p:nvPr>
            <p:ph type="body" idx="10"/>
          </p:nvPr>
        </p:nvSpPr>
        <p:spPr>
          <a:xfrm>
            <a:off x="548640" y="402336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8F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or follow-up: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name@gamutservices.com</a:t>
            </a:r>
            <a:endParaRPr lang="en-US" sz="1300" dirty="0"/>
          </a:p>
          <a:p>
            <a:pPr marL="0" indent="0">
              <a:buNone/>
            </a:pPr>
            <a:r>
              <a:rPr lang="en-US" sz="1400" dirty="0">
                <a:solidFill>
                  <a:srgbClr val="BFC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gamutservices.com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rand Referenc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0E5A66"/>
          </a:solidFill>
          <a:ln/>
        </p:spPr>
      </p:sp>
      <p:sp>
        <p:nvSpPr>
          <p:cNvPr id="4" name="Text 1"/>
          <p:cNvSpPr/>
          <p:nvPr/>
        </p:nvSpPr>
        <p:spPr>
          <a:xfrm>
            <a:off x="777240" y="365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 SERVICES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6446520"/>
            <a:ext cx="11094415" cy="10973"/>
          </a:xfrm>
          <a:prstGeom prst="rect">
            <a:avLst/>
          </a:prstGeom>
          <a:solidFill>
            <a:srgbClr val="D6DEE2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 Services  ·  Confidential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619695" y="65105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gamutservices.com</a:t>
            </a:r>
            <a:endParaRPr lang="en-US" sz="9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510528"/>
            <a:ext cx="3200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9" name="Shape 3"/>
          <p:cNvSpPr/>
          <p:nvPr/>
        </p:nvSpPr>
        <p:spPr>
          <a:xfrm>
            <a:off x="548640" y="2560320"/>
            <a:ext cx="914400" cy="914400"/>
          </a:xfrm>
          <a:prstGeom prst="rect">
            <a:avLst/>
          </a:prstGeom>
          <a:solidFill>
            <a:srgbClr val="0E5A66"/>
          </a:solidFill>
          <a:ln/>
        </p:spPr>
      </p:sp>
      <p:sp>
        <p:nvSpPr>
          <p:cNvPr id="10" name="Shape 6"/>
          <p:cNvSpPr/>
          <p:nvPr/>
        </p:nvSpPr>
        <p:spPr>
          <a:xfrm>
            <a:off x="1600200" y="2560320"/>
            <a:ext cx="914400" cy="914400"/>
          </a:xfrm>
          <a:prstGeom prst="rect">
            <a:avLst/>
          </a:prstGeom>
          <a:solidFill>
            <a:srgbClr val="0A444E"/>
          </a:solidFill>
          <a:ln/>
        </p:spPr>
      </p:sp>
      <p:sp>
        <p:nvSpPr>
          <p:cNvPr id="11" name="Shape 9"/>
          <p:cNvSpPr/>
          <p:nvPr/>
        </p:nvSpPr>
        <p:spPr>
          <a:xfrm>
            <a:off x="2651760" y="2560320"/>
            <a:ext cx="914400" cy="914400"/>
          </a:xfrm>
          <a:prstGeom prst="rect">
            <a:avLst/>
          </a:prstGeom>
          <a:solidFill>
            <a:srgbClr val="1F8A99"/>
          </a:solidFill>
          <a:ln/>
        </p:spPr>
      </p:sp>
      <p:sp>
        <p:nvSpPr>
          <p:cNvPr id="12" name="Shape 12"/>
          <p:cNvSpPr/>
          <p:nvPr/>
        </p:nvSpPr>
        <p:spPr>
          <a:xfrm>
            <a:off x="3703320" y="2560320"/>
            <a:ext cx="914400" cy="914400"/>
          </a:xfrm>
          <a:prstGeom prst="rect">
            <a:avLst/>
          </a:prstGeom>
          <a:solidFill>
            <a:srgbClr val="C97B3C"/>
          </a:solidFill>
          <a:ln/>
        </p:spPr>
      </p:sp>
      <p:sp>
        <p:nvSpPr>
          <p:cNvPr id="13" name="Shape 15"/>
          <p:cNvSpPr/>
          <p:nvPr/>
        </p:nvSpPr>
        <p:spPr>
          <a:xfrm>
            <a:off x="4754880" y="2560320"/>
            <a:ext cx="914400" cy="914400"/>
          </a:xfrm>
          <a:prstGeom prst="rect">
            <a:avLst/>
          </a:prstGeom>
          <a:solidFill>
            <a:srgbClr val="1A2A33"/>
          </a:solidFill>
          <a:ln/>
        </p:spPr>
      </p:sp>
      <p:sp>
        <p:nvSpPr>
          <p:cNvPr id="14" name="Shape 18"/>
          <p:cNvSpPr/>
          <p:nvPr/>
        </p:nvSpPr>
        <p:spPr>
          <a:xfrm>
            <a:off x="5806440" y="2560320"/>
            <a:ext cx="914400" cy="914400"/>
          </a:xfrm>
          <a:prstGeom prst="rect">
            <a:avLst/>
          </a:prstGeom>
          <a:solidFill>
            <a:srgbClr val="5A6B73"/>
          </a:solidFill>
          <a:ln/>
        </p:spPr>
      </p:sp>
      <p:sp>
        <p:nvSpPr>
          <p:cNvPr id="15" name="Text 0"/>
          <p:cNvSpPr>
            <a:spLocks noGrp="1"/>
          </p:cNvSpPr>
          <p:nvPr>
            <p:ph type="title"/>
          </p:nvPr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Reference</a:t>
            </a:r>
            <a:endParaRPr lang="en-US" sz="3200" dirty="0"/>
          </a:p>
        </p:txBody>
      </p:sp>
      <p:sp>
        <p:nvSpPr>
          <p:cNvPr id="16" name="Text 1"/>
          <p:cNvSpPr>
            <a:spLocks noGrp="1"/>
          </p:cNvSpPr>
          <p:nvPr>
            <p:ph type="body" idx="10"/>
          </p:nvPr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for the design system used by this template.</a:t>
            </a:r>
            <a:endParaRPr lang="en-US" sz="1400" dirty="0"/>
          </a:p>
        </p:txBody>
      </p:sp>
      <p:sp>
        <p:nvSpPr>
          <p:cNvPr id="17" name="Text 2"/>
          <p:cNvSpPr>
            <a:spLocks noGrp="1"/>
          </p:cNvSpPr>
          <p:nvPr>
            <p:ph type="body" idx="11"/>
          </p:nvPr>
        </p:nvSpPr>
        <p:spPr>
          <a:xfrm>
            <a:off x="548640" y="2148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palette</a:t>
            </a:r>
            <a:endParaRPr lang="en-US" sz="1100" dirty="0"/>
          </a:p>
        </p:txBody>
      </p:sp>
      <p:sp>
        <p:nvSpPr>
          <p:cNvPr id="18" name="Text 4"/>
          <p:cNvSpPr>
            <a:spLocks noGrp="1"/>
          </p:cNvSpPr>
          <p:nvPr>
            <p:ph type="body" idx="12"/>
          </p:nvPr>
        </p:nvSpPr>
        <p:spPr>
          <a:xfrm>
            <a:off x="548640" y="3520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000" dirty="0"/>
          </a:p>
        </p:txBody>
      </p:sp>
      <p:sp>
        <p:nvSpPr>
          <p:cNvPr id="19" name="Text 5"/>
          <p:cNvSpPr>
            <a:spLocks noGrp="1"/>
          </p:cNvSpPr>
          <p:nvPr>
            <p:ph type="body" idx="13"/>
          </p:nvPr>
        </p:nvSpPr>
        <p:spPr>
          <a:xfrm>
            <a:off x="548640" y="37673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#0E5A66</a:t>
            </a:r>
            <a:endParaRPr lang="en-US" sz="900" dirty="0"/>
          </a:p>
        </p:txBody>
      </p:sp>
      <p:sp>
        <p:nvSpPr>
          <p:cNvPr id="20" name="Text 7"/>
          <p:cNvSpPr>
            <a:spLocks noGrp="1"/>
          </p:cNvSpPr>
          <p:nvPr>
            <p:ph type="body" idx="14"/>
          </p:nvPr>
        </p:nvSpPr>
        <p:spPr>
          <a:xfrm>
            <a:off x="1600200" y="3520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Dk</a:t>
            </a:r>
            <a:endParaRPr lang="en-US" sz="1000" dirty="0"/>
          </a:p>
        </p:txBody>
      </p:sp>
      <p:sp>
        <p:nvSpPr>
          <p:cNvPr id="21" name="Text 8"/>
          <p:cNvSpPr>
            <a:spLocks noGrp="1"/>
          </p:cNvSpPr>
          <p:nvPr>
            <p:ph type="body" idx="15"/>
          </p:nvPr>
        </p:nvSpPr>
        <p:spPr>
          <a:xfrm>
            <a:off x="1600200" y="37673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#0A444E</a:t>
            </a:r>
            <a:endParaRPr lang="en-US" sz="900" dirty="0"/>
          </a:p>
        </p:txBody>
      </p:sp>
      <p:sp>
        <p:nvSpPr>
          <p:cNvPr id="22" name="Text 10"/>
          <p:cNvSpPr>
            <a:spLocks noGrp="1"/>
          </p:cNvSpPr>
          <p:nvPr>
            <p:ph type="body" idx="16"/>
          </p:nvPr>
        </p:nvSpPr>
        <p:spPr>
          <a:xfrm>
            <a:off x="2651760" y="3520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000" dirty="0"/>
          </a:p>
        </p:txBody>
      </p:sp>
      <p:sp>
        <p:nvSpPr>
          <p:cNvPr id="23" name="Text 11"/>
          <p:cNvSpPr>
            <a:spLocks noGrp="1"/>
          </p:cNvSpPr>
          <p:nvPr>
            <p:ph type="body" idx="17"/>
          </p:nvPr>
        </p:nvSpPr>
        <p:spPr>
          <a:xfrm>
            <a:off x="2651760" y="37673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#1F8A99</a:t>
            </a:r>
            <a:endParaRPr lang="en-US" sz="900" dirty="0"/>
          </a:p>
        </p:txBody>
      </p:sp>
      <p:sp>
        <p:nvSpPr>
          <p:cNvPr id="24" name="Text 13"/>
          <p:cNvSpPr>
            <a:spLocks noGrp="1"/>
          </p:cNvSpPr>
          <p:nvPr>
            <p:ph type="body" idx="18"/>
          </p:nvPr>
        </p:nvSpPr>
        <p:spPr>
          <a:xfrm>
            <a:off x="3703320" y="3520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</a:t>
            </a:r>
            <a:endParaRPr lang="en-US" sz="1000" dirty="0"/>
          </a:p>
        </p:txBody>
      </p:sp>
      <p:sp>
        <p:nvSpPr>
          <p:cNvPr id="25" name="Text 14"/>
          <p:cNvSpPr>
            <a:spLocks noGrp="1"/>
          </p:cNvSpPr>
          <p:nvPr>
            <p:ph type="body" idx="19"/>
          </p:nvPr>
        </p:nvSpPr>
        <p:spPr>
          <a:xfrm>
            <a:off x="3703320" y="37673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#C97B3C</a:t>
            </a:r>
            <a:endParaRPr lang="en-US" sz="900" dirty="0"/>
          </a:p>
        </p:txBody>
      </p:sp>
      <p:sp>
        <p:nvSpPr>
          <p:cNvPr id="26" name="Text 16"/>
          <p:cNvSpPr>
            <a:spLocks noGrp="1"/>
          </p:cNvSpPr>
          <p:nvPr>
            <p:ph type="body" idx="20"/>
          </p:nvPr>
        </p:nvSpPr>
        <p:spPr>
          <a:xfrm>
            <a:off x="4754880" y="3520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</a:t>
            </a:r>
            <a:endParaRPr lang="en-US" sz="1000" dirty="0"/>
          </a:p>
        </p:txBody>
      </p:sp>
      <p:sp>
        <p:nvSpPr>
          <p:cNvPr id="27" name="Text 17"/>
          <p:cNvSpPr>
            <a:spLocks noGrp="1"/>
          </p:cNvSpPr>
          <p:nvPr>
            <p:ph type="body" idx="21"/>
          </p:nvPr>
        </p:nvSpPr>
        <p:spPr>
          <a:xfrm>
            <a:off x="4754880" y="37673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#1A2A33</a:t>
            </a:r>
            <a:endParaRPr lang="en-US" sz="900" dirty="0"/>
          </a:p>
        </p:txBody>
      </p:sp>
      <p:sp>
        <p:nvSpPr>
          <p:cNvPr id="28" name="Text 19"/>
          <p:cNvSpPr>
            <a:spLocks noGrp="1"/>
          </p:cNvSpPr>
          <p:nvPr>
            <p:ph type="body" idx="22"/>
          </p:nvPr>
        </p:nvSpPr>
        <p:spPr>
          <a:xfrm>
            <a:off x="5806440" y="3520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Muted</a:t>
            </a:r>
            <a:endParaRPr lang="en-US" sz="1000" dirty="0"/>
          </a:p>
        </p:txBody>
      </p:sp>
      <p:sp>
        <p:nvSpPr>
          <p:cNvPr id="29" name="Text 20"/>
          <p:cNvSpPr>
            <a:spLocks noGrp="1"/>
          </p:cNvSpPr>
          <p:nvPr>
            <p:ph type="body" idx="23"/>
          </p:nvPr>
        </p:nvSpPr>
        <p:spPr>
          <a:xfrm>
            <a:off x="5806440" y="37673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#5A6B73</a:t>
            </a:r>
            <a:endParaRPr lang="en-US" sz="900" dirty="0"/>
          </a:p>
        </p:txBody>
      </p:sp>
      <p:sp>
        <p:nvSpPr>
          <p:cNvPr id="30" name="Text 21"/>
          <p:cNvSpPr>
            <a:spLocks noGrp="1"/>
          </p:cNvSpPr>
          <p:nvPr>
            <p:ph type="body" idx="24"/>
          </p:nvPr>
        </p:nvSpPr>
        <p:spPr>
          <a:xfrm>
            <a:off x="548640" y="4251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100" dirty="0"/>
          </a:p>
        </p:txBody>
      </p:sp>
      <p:sp>
        <p:nvSpPr>
          <p:cNvPr id="31" name="Text 22"/>
          <p:cNvSpPr>
            <a:spLocks noGrp="1"/>
          </p:cNvSpPr>
          <p:nvPr>
            <p:ph type="body" idx="25"/>
          </p:nvPr>
        </p:nvSpPr>
        <p:spPr>
          <a:xfrm>
            <a:off x="548640" y="46177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Heading — Georgia Bold</a:t>
            </a:r>
            <a:endParaRPr lang="en-US" sz="2800" dirty="0"/>
          </a:p>
        </p:txBody>
      </p:sp>
      <p:sp>
        <p:nvSpPr>
          <p:cNvPr id="32" name="Text 23"/>
          <p:cNvSpPr>
            <a:spLocks noGrp="1"/>
          </p:cNvSpPr>
          <p:nvPr>
            <p:ph type="body" idx="26"/>
          </p:nvPr>
        </p:nvSpPr>
        <p:spPr>
          <a:xfrm>
            <a:off x="548640" y="5212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— Calibri Regular. Used for paragraphs, bullet points, captions, and table content throughout the deck.</a:t>
            </a:r>
            <a:endParaRPr lang="en-US" sz="1400" dirty="0"/>
          </a:p>
        </p:txBody>
      </p:sp>
      <p:sp>
        <p:nvSpPr>
          <p:cNvPr id="33" name="Text 24"/>
          <p:cNvSpPr>
            <a:spLocks noGrp="1"/>
          </p:cNvSpPr>
          <p:nvPr>
            <p:ph type="body" idx="27"/>
          </p:nvPr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/ EYEBROW — CALIBRI BOLD, TRACKED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510528"/>
            <a:ext cx="32004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548640" y="23774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Title</a:t>
            </a:r>
            <a:endParaRPr lang="en-US" sz="5400" dirty="0"/>
          </a:p>
        </p:txBody>
      </p:sp>
      <p:sp>
        <p:nvSpPr>
          <p:cNvPr id="4" name="Text 1"/>
          <p:cNvSpPr>
            <a:spLocks noGrp="1"/>
          </p:cNvSpPr>
          <p:nvPr>
            <p:ph type="body" idx="10"/>
          </p:nvPr>
        </p:nvSpPr>
        <p:spPr>
          <a:xfrm>
            <a:off x="548640" y="35204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FC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descriptive subtitle that frames the topic for your audience</a:t>
            </a:r>
            <a:endParaRPr lang="en-US" sz="2000" dirty="0"/>
          </a:p>
        </p:txBody>
      </p:sp>
      <p:sp>
        <p:nvSpPr>
          <p:cNvPr id="5" name="Text 3"/>
          <p:cNvSpPr>
            <a:spLocks noGrp="1"/>
          </p:cNvSpPr>
          <p:nvPr>
            <p:ph type="body" idx="11"/>
          </p:nvPr>
        </p:nvSpPr>
        <p:spPr>
          <a:xfrm>
            <a:off x="548640" y="45720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8F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Name  ·  Role  ·  Date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548640" y="868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4000" dirty="0"/>
          </a:p>
        </p:txBody>
      </p:sp>
      <p:sp>
        <p:nvSpPr>
          <p:cNvPr id="4" name="Text 1"/>
          <p:cNvSpPr>
            <a:spLocks noGrp="1"/>
          </p:cNvSpPr>
          <p:nvPr>
            <p:ph type="body" idx="10"/>
          </p:nvPr>
        </p:nvSpPr>
        <p:spPr>
          <a:xfrm>
            <a:off x="548640" y="1600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this with a one-line framing of the talk.</a:t>
            </a:r>
            <a:endParaRPr lang="en-US" sz="1400" dirty="0"/>
          </a:p>
        </p:txBody>
      </p:sp>
      <p:sp>
        <p:nvSpPr>
          <p:cNvPr id="5" name="Text 2"/>
          <p:cNvSpPr>
            <a:spLocks noGrp="1"/>
          </p:cNvSpPr>
          <p:nvPr>
            <p:ph type="body" idx="11"/>
          </p:nvPr>
        </p:nvSpPr>
        <p:spPr>
          <a:xfrm>
            <a:off x="548640" y="23774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7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3"/>
          <p:cNvSpPr>
            <a:spLocks noGrp="1"/>
          </p:cNvSpPr>
          <p:nvPr>
            <p:ph type="body" idx="12"/>
          </p:nvPr>
        </p:nvSpPr>
        <p:spPr>
          <a:xfrm>
            <a:off x="155448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One</a:t>
            </a:r>
            <a:endParaRPr lang="en-US" sz="1800" dirty="0"/>
          </a:p>
        </p:txBody>
      </p:sp>
      <p:sp>
        <p:nvSpPr>
          <p:cNvPr id="7" name="Text 4"/>
          <p:cNvSpPr>
            <a:spLocks noGrp="1"/>
          </p:cNvSpPr>
          <p:nvPr>
            <p:ph type="body" idx="13"/>
          </p:nvPr>
        </p:nvSpPr>
        <p:spPr>
          <a:xfrm>
            <a:off x="1554480" y="2743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description of what this section covers</a:t>
            </a:r>
            <a:endParaRPr lang="en-US" sz="1200" dirty="0"/>
          </a:p>
        </p:txBody>
      </p:sp>
      <p:sp>
        <p:nvSpPr>
          <p:cNvPr id="8" name="Text 6"/>
          <p:cNvSpPr>
            <a:spLocks noGrp="1"/>
          </p:cNvSpPr>
          <p:nvPr>
            <p:ph type="body" idx="14"/>
          </p:nvPr>
        </p:nvSpPr>
        <p:spPr>
          <a:xfrm>
            <a:off x="548640" y="32461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7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9" name="Text 7"/>
          <p:cNvSpPr>
            <a:spLocks noGrp="1"/>
          </p:cNvSpPr>
          <p:nvPr>
            <p:ph type="body" idx="15"/>
          </p:nvPr>
        </p:nvSpPr>
        <p:spPr>
          <a:xfrm>
            <a:off x="1554480" y="3246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Two</a:t>
            </a:r>
            <a:endParaRPr lang="en-US" sz="1800" dirty="0"/>
          </a:p>
        </p:txBody>
      </p:sp>
      <p:sp>
        <p:nvSpPr>
          <p:cNvPr id="10" name="Text 8"/>
          <p:cNvSpPr>
            <a:spLocks noGrp="1"/>
          </p:cNvSpPr>
          <p:nvPr>
            <p:ph type="body" idx="16"/>
          </p:nvPr>
        </p:nvSpPr>
        <p:spPr>
          <a:xfrm>
            <a:off x="1554480" y="3611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description of what this section covers</a:t>
            </a:r>
            <a:endParaRPr lang="en-US" sz="1200" dirty="0"/>
          </a:p>
        </p:txBody>
      </p:sp>
      <p:sp>
        <p:nvSpPr>
          <p:cNvPr id="11" name="Text 10"/>
          <p:cNvSpPr>
            <a:spLocks noGrp="1"/>
          </p:cNvSpPr>
          <p:nvPr>
            <p:ph type="body" idx="17"/>
          </p:nvPr>
        </p:nvSpPr>
        <p:spPr>
          <a:xfrm>
            <a:off x="548640" y="41148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7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12" name="Text 11"/>
          <p:cNvSpPr>
            <a:spLocks noGrp="1"/>
          </p:cNvSpPr>
          <p:nvPr>
            <p:ph type="body" idx="18"/>
          </p:nvPr>
        </p:nvSpPr>
        <p:spPr>
          <a:xfrm>
            <a:off x="155448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Three</a:t>
            </a:r>
            <a:endParaRPr lang="en-US" sz="1800" dirty="0"/>
          </a:p>
        </p:txBody>
      </p:sp>
      <p:sp>
        <p:nvSpPr>
          <p:cNvPr id="13" name="Text 12"/>
          <p:cNvSpPr>
            <a:spLocks noGrp="1"/>
          </p:cNvSpPr>
          <p:nvPr>
            <p:ph type="body" idx="19"/>
          </p:nvPr>
        </p:nvSpPr>
        <p:spPr>
          <a:xfrm>
            <a:off x="1554480" y="4480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description of what this section covers</a:t>
            </a:r>
            <a:endParaRPr lang="en-US" sz="1200" dirty="0"/>
          </a:p>
        </p:txBody>
      </p:sp>
      <p:sp>
        <p:nvSpPr>
          <p:cNvPr id="14" name="Text 14"/>
          <p:cNvSpPr>
            <a:spLocks noGrp="1"/>
          </p:cNvSpPr>
          <p:nvPr>
            <p:ph type="body" idx="20"/>
          </p:nvPr>
        </p:nvSpPr>
        <p:spPr>
          <a:xfrm>
            <a:off x="548640" y="49834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7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200" dirty="0"/>
          </a:p>
        </p:txBody>
      </p:sp>
      <p:sp>
        <p:nvSpPr>
          <p:cNvPr id="15" name="Text 15"/>
          <p:cNvSpPr>
            <a:spLocks noGrp="1"/>
          </p:cNvSpPr>
          <p:nvPr>
            <p:ph type="body" idx="21"/>
          </p:nvPr>
        </p:nvSpPr>
        <p:spPr>
          <a:xfrm>
            <a:off x="1554480" y="4983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Four</a:t>
            </a:r>
            <a:endParaRPr lang="en-US" sz="1800" dirty="0"/>
          </a:p>
        </p:txBody>
      </p:sp>
      <p:sp>
        <p:nvSpPr>
          <p:cNvPr id="16" name="Text 16"/>
          <p:cNvSpPr>
            <a:spLocks noGrp="1"/>
          </p:cNvSpPr>
          <p:nvPr>
            <p:ph type="body" idx="22"/>
          </p:nvPr>
        </p:nvSpPr>
        <p:spPr>
          <a:xfrm>
            <a:off x="1554480" y="5349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description of what this section covers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548640" y="21031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C97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1"/>
          <p:cNvSpPr>
            <a:spLocks noGrp="1"/>
          </p:cNvSpPr>
          <p:nvPr>
            <p:ph type="body" idx="10"/>
          </p:nvPr>
        </p:nvSpPr>
        <p:spPr>
          <a:xfrm>
            <a:off x="548640" y="31089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Title</a:t>
            </a:r>
            <a:endParaRPr lang="en-US" sz="4800" dirty="0"/>
          </a:p>
        </p:txBody>
      </p:sp>
      <p:sp>
        <p:nvSpPr>
          <p:cNvPr id="5" name="Text 2"/>
          <p:cNvSpPr>
            <a:spLocks noGrp="1"/>
          </p:cNvSpPr>
          <p:nvPr>
            <p:ph type="body" idx="11"/>
          </p:nvPr>
        </p:nvSpPr>
        <p:spPr>
          <a:xfrm>
            <a:off x="548640" y="42062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FC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supporting line that previews the section.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Title and Content Layout</a:t>
            </a:r>
            <a:endParaRPr lang="en-US" sz="3200" dirty="0"/>
          </a:p>
        </p:txBody>
      </p:sp>
      <p:sp>
        <p:nvSpPr>
          <p:cNvPr id="4" name="Text 1"/>
          <p:cNvSpPr>
            <a:spLocks noGrp="1"/>
          </p:cNvSpPr>
          <p:nvPr>
            <p:ph type="body" idx="10"/>
          </p:nvPr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layout for explanatory content with supporting bullet points.</a:t>
            </a:r>
            <a:endParaRPr lang="en-US" sz="1400" dirty="0"/>
          </a:p>
        </p:txBody>
      </p:sp>
      <p:sp>
        <p:nvSpPr>
          <p:cNvPr id="5" name="Text 2"/>
          <p:cNvSpPr>
            <a:spLocks noGrp="1"/>
          </p:cNvSpPr>
          <p:nvPr>
            <p:ph type="body" idx="11"/>
          </p:nvPr>
        </p:nvSpPr>
        <p:spPr>
          <a:xfrm>
            <a:off x="548640" y="2194560"/>
            <a:ext cx="10972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key point — keep each line to a single idea so the audience can scan.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key point — short bullets read better than long paragraphs on a slide.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key point — aim for three to five bullets per slide as a working ceiling.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Fourth key point — sub-points should support, not duplicate, the parent.</a:t>
            </a:r>
            <a:endParaRPr lang="en-US" sz="1600" dirty="0"/>
          </a:p>
          <a:p>
            <a:pPr marL="685800" lvl="1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nested supporting detail under the parent bullet above.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Two-Column Layout</a:t>
            </a:r>
            <a:endParaRPr lang="en-US" sz="3200" dirty="0"/>
          </a:p>
        </p:txBody>
      </p:sp>
      <p:sp>
        <p:nvSpPr>
          <p:cNvPr id="4" name="Text 1"/>
          <p:cNvSpPr>
            <a:spLocks noGrp="1"/>
          </p:cNvSpPr>
          <p:nvPr>
            <p:ph type="body" idx="10"/>
          </p:nvPr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two ideas side by side, or pair narrative with supporting detail.</a:t>
            </a:r>
            <a:endParaRPr lang="en-US" sz="1400" dirty="0"/>
          </a:p>
        </p:txBody>
      </p:sp>
      <p:sp>
        <p:nvSpPr>
          <p:cNvPr id="5" name="Text 3"/>
          <p:cNvSpPr>
            <a:spLocks noGrp="1"/>
          </p:cNvSpPr>
          <p:nvPr>
            <p:ph type="body" idx="11"/>
          </p:nvPr>
        </p:nvSpPr>
        <p:spPr>
          <a:xfrm>
            <a:off x="731520" y="2148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Column One</a:t>
            </a:r>
            <a:endParaRPr lang="en-US" sz="2000" dirty="0"/>
          </a:p>
        </p:txBody>
      </p:sp>
      <p:sp>
        <p:nvSpPr>
          <p:cNvPr id="6" name="Text 4"/>
          <p:cNvSpPr>
            <a:spLocks noGrp="1"/>
          </p:cNvSpPr>
          <p:nvPr>
            <p:ph type="body" idx="12"/>
          </p:nvPr>
        </p:nvSpPr>
        <p:spPr>
          <a:xfrm>
            <a:off x="731520" y="2697480"/>
            <a:ext cx="52120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framing paragraph that introduces the left-hand topic.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point one.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point two.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point three.</a:t>
            </a:r>
            <a:endParaRPr lang="en-US" sz="1400" dirty="0"/>
          </a:p>
        </p:txBody>
      </p:sp>
      <p:sp>
        <p:nvSpPr>
          <p:cNvPr id="7" name="Text 6"/>
          <p:cNvSpPr>
            <a:spLocks noGrp="1"/>
          </p:cNvSpPr>
          <p:nvPr>
            <p:ph type="body" idx="13"/>
          </p:nvPr>
        </p:nvSpPr>
        <p:spPr>
          <a:xfrm>
            <a:off x="6537960" y="2148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Column Two</a:t>
            </a:r>
            <a:endParaRPr lang="en-US" sz="2000" dirty="0"/>
          </a:p>
        </p:txBody>
      </p:sp>
      <p:sp>
        <p:nvSpPr>
          <p:cNvPr id="8" name="Text 7"/>
          <p:cNvSpPr>
            <a:spLocks noGrp="1"/>
          </p:cNvSpPr>
          <p:nvPr>
            <p:ph type="body" idx="14"/>
          </p:nvPr>
        </p:nvSpPr>
        <p:spPr>
          <a:xfrm>
            <a:off x="6537960" y="2697480"/>
            <a:ext cx="52120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framing paragraph that introduces the right-hand topic.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point one.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point two.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point three.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Metrics Layout</a:t>
            </a:r>
            <a:endParaRPr lang="en-US" sz="3200" dirty="0"/>
          </a:p>
        </p:txBody>
      </p:sp>
      <p:sp>
        <p:nvSpPr>
          <p:cNvPr id="4" name="Text 1"/>
          <p:cNvSpPr>
            <a:spLocks noGrp="1"/>
          </p:cNvSpPr>
          <p:nvPr>
            <p:ph type="body" idx="10"/>
          </p:nvPr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large stat callouts work well to open or close a section.</a:t>
            </a:r>
            <a:endParaRPr lang="en-US" sz="1400" dirty="0"/>
          </a:p>
        </p:txBody>
      </p:sp>
      <p:sp>
        <p:nvSpPr>
          <p:cNvPr id="5" name="Text 4"/>
          <p:cNvSpPr>
            <a:spLocks noGrp="1"/>
          </p:cNvSpPr>
          <p:nvPr>
            <p:ph type="body" idx="11"/>
          </p:nvPr>
        </p:nvSpPr>
        <p:spPr>
          <a:xfrm>
            <a:off x="792328" y="27432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E5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92%</a:t>
            </a:r>
            <a:endParaRPr lang="en-US" sz="6000" dirty="0"/>
          </a:p>
        </p:txBody>
      </p:sp>
      <p:sp>
        <p:nvSpPr>
          <p:cNvPr id="6" name="Text 5"/>
          <p:cNvSpPr>
            <a:spLocks noGrp="1"/>
          </p:cNvSpPr>
          <p:nvPr>
            <p:ph type="body" idx="12"/>
          </p:nvPr>
        </p:nvSpPr>
        <p:spPr>
          <a:xfrm>
            <a:off x="792328" y="4160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statistic</a:t>
            </a:r>
            <a:endParaRPr lang="en-US" sz="1400" dirty="0"/>
          </a:p>
        </p:txBody>
      </p:sp>
      <p:sp>
        <p:nvSpPr>
          <p:cNvPr id="7" name="Text 6"/>
          <p:cNvSpPr>
            <a:spLocks noGrp="1"/>
          </p:cNvSpPr>
          <p:nvPr>
            <p:ph type="body" idx="13"/>
          </p:nvPr>
        </p:nvSpPr>
        <p:spPr>
          <a:xfrm>
            <a:off x="792328" y="45262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qualifier explaining what this measures.</a:t>
            </a:r>
            <a:endParaRPr lang="en-US" sz="1200" dirty="0"/>
          </a:p>
        </p:txBody>
      </p:sp>
      <p:sp>
        <p:nvSpPr>
          <p:cNvPr id="8" name="Text 9"/>
          <p:cNvSpPr>
            <a:spLocks noGrp="1"/>
          </p:cNvSpPr>
          <p:nvPr>
            <p:ph type="body" idx="14"/>
          </p:nvPr>
        </p:nvSpPr>
        <p:spPr>
          <a:xfrm>
            <a:off x="4587088" y="27432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E5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3.4x</a:t>
            </a:r>
            <a:endParaRPr lang="en-US" sz="6000" dirty="0"/>
          </a:p>
        </p:txBody>
      </p:sp>
      <p:sp>
        <p:nvSpPr>
          <p:cNvPr id="9" name="Text 10"/>
          <p:cNvSpPr>
            <a:spLocks noGrp="1"/>
          </p:cNvSpPr>
          <p:nvPr>
            <p:ph type="body" idx="15"/>
          </p:nvPr>
        </p:nvSpPr>
        <p:spPr>
          <a:xfrm>
            <a:off x="4587088" y="4160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metric</a:t>
            </a:r>
            <a:endParaRPr lang="en-US" sz="1400" dirty="0"/>
          </a:p>
        </p:txBody>
      </p:sp>
      <p:sp>
        <p:nvSpPr>
          <p:cNvPr id="10" name="Text 11"/>
          <p:cNvSpPr>
            <a:spLocks noGrp="1"/>
          </p:cNvSpPr>
          <p:nvPr>
            <p:ph type="body" idx="16"/>
          </p:nvPr>
        </p:nvSpPr>
        <p:spPr>
          <a:xfrm>
            <a:off x="4587088" y="45262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qualifier explaining what this measures.</a:t>
            </a:r>
            <a:endParaRPr lang="en-US" sz="1200" dirty="0"/>
          </a:p>
        </p:txBody>
      </p:sp>
      <p:sp>
        <p:nvSpPr>
          <p:cNvPr id="11" name="Text 14"/>
          <p:cNvSpPr>
            <a:spLocks noGrp="1"/>
          </p:cNvSpPr>
          <p:nvPr>
            <p:ph type="body" idx="17"/>
          </p:nvPr>
        </p:nvSpPr>
        <p:spPr>
          <a:xfrm>
            <a:off x="8381848" y="27432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E5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$1.2B</a:t>
            </a:r>
            <a:endParaRPr lang="en-US" sz="6000" dirty="0"/>
          </a:p>
        </p:txBody>
      </p:sp>
      <p:sp>
        <p:nvSpPr>
          <p:cNvPr id="12" name="Text 15"/>
          <p:cNvSpPr>
            <a:spLocks noGrp="1"/>
          </p:cNvSpPr>
          <p:nvPr>
            <p:ph type="body" idx="18"/>
          </p:nvPr>
        </p:nvSpPr>
        <p:spPr>
          <a:xfrm>
            <a:off x="8381848" y="4160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 metric</a:t>
            </a:r>
            <a:endParaRPr lang="en-US" sz="1400" dirty="0"/>
          </a:p>
        </p:txBody>
      </p:sp>
      <p:sp>
        <p:nvSpPr>
          <p:cNvPr id="13" name="Text 16"/>
          <p:cNvSpPr>
            <a:spLocks noGrp="1"/>
          </p:cNvSpPr>
          <p:nvPr>
            <p:ph type="body" idx="19"/>
          </p:nvPr>
        </p:nvSpPr>
        <p:spPr>
          <a:xfrm>
            <a:off x="8381848" y="45262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qualifier explaining what this measures.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Chart Layout</a:t>
            </a:r>
            <a:endParaRPr lang="en-US" sz="3200" dirty="0"/>
          </a:p>
        </p:txBody>
      </p:sp>
      <p:sp>
        <p:nvSpPr>
          <p:cNvPr id="4" name="Text 1"/>
          <p:cNvSpPr>
            <a:spLocks noGrp="1"/>
          </p:cNvSpPr>
          <p:nvPr>
            <p:ph type="body" idx="10"/>
          </p:nvPr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use the brand palette. Replace data values in the embedded Excel.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2194560"/>
          <a:ext cx="749808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4"/>
          <p:cNvSpPr>
            <a:spLocks noGrp="1"/>
          </p:cNvSpPr>
          <p:nvPr>
            <p:ph type="body" idx="11"/>
          </p:nvPr>
        </p:nvSpPr>
        <p:spPr>
          <a:xfrm>
            <a:off x="8641080" y="2377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7" name="Text 5"/>
          <p:cNvSpPr>
            <a:spLocks noGrp="1"/>
          </p:cNvSpPr>
          <p:nvPr>
            <p:ph type="body" idx="12"/>
          </p:nvPr>
        </p:nvSpPr>
        <p:spPr>
          <a:xfrm>
            <a:off x="8641080" y="2743200"/>
            <a:ext cx="2834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Replace this with the single most important insight from the chart — what should the audience walk away knowing?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Layout</a:t>
            </a:r>
            <a:endParaRPr lang="en-US" sz="3200" dirty="0"/>
          </a:p>
        </p:txBody>
      </p:sp>
      <p:sp>
        <p:nvSpPr>
          <p:cNvPr id="4" name="Text 1"/>
          <p:cNvSpPr>
            <a:spLocks noGrp="1"/>
          </p:cNvSpPr>
          <p:nvPr>
            <p:ph type="body" idx="10"/>
          </p:nvPr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tables for structured comparisons. Header uses brand primary.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A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label 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 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5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track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label two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 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97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label three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 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5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track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label four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 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A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Four-Up Layout</a:t>
            </a:r>
            <a:endParaRPr lang="en-US" sz="3200" dirty="0"/>
          </a:p>
        </p:txBody>
      </p:sp>
      <p:sp>
        <p:nvSpPr>
          <p:cNvPr id="4" name="Text 1"/>
          <p:cNvSpPr>
            <a:spLocks noGrp="1"/>
          </p:cNvSpPr>
          <p:nvPr>
            <p:ph type="body" idx="10"/>
          </p:nvPr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service offerings, capabilities, or a set of related concepts.</a:t>
            </a:r>
            <a:endParaRPr lang="en-US" sz="1400" dirty="0"/>
          </a:p>
        </p:txBody>
      </p:sp>
      <p:sp>
        <p:nvSpPr>
          <p:cNvPr id="5" name="Text 4"/>
          <p:cNvSpPr>
            <a:spLocks noGrp="1"/>
          </p:cNvSpPr>
          <p:nvPr>
            <p:ph type="body" idx="11"/>
          </p:nvPr>
        </p:nvSpPr>
        <p:spPr>
          <a:xfrm>
            <a:off x="82296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5"/>
          <p:cNvSpPr>
            <a:spLocks noGrp="1"/>
          </p:cNvSpPr>
          <p:nvPr>
            <p:ph type="body" idx="12"/>
          </p:nvPr>
        </p:nvSpPr>
        <p:spPr>
          <a:xfrm>
            <a:off x="1600200" y="262432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Capability One</a:t>
            </a:r>
            <a:endParaRPr lang="en-US" sz="2000" dirty="0"/>
          </a:p>
        </p:txBody>
      </p:sp>
      <p:sp>
        <p:nvSpPr>
          <p:cNvPr id="7" name="Text 6"/>
          <p:cNvSpPr>
            <a:spLocks noGrp="1"/>
          </p:cNvSpPr>
          <p:nvPr>
            <p:ph type="body" idx="13"/>
          </p:nvPr>
        </p:nvSpPr>
        <p:spPr>
          <a:xfrm>
            <a:off x="1600200" y="320040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 or two-sentence description of this capability and the value it delivers.</a:t>
            </a:r>
            <a:endParaRPr lang="en-US" sz="1300" dirty="0"/>
          </a:p>
        </p:txBody>
      </p:sp>
      <p:sp>
        <p:nvSpPr>
          <p:cNvPr id="8" name="Text 9"/>
          <p:cNvSpPr>
            <a:spLocks noGrp="1"/>
          </p:cNvSpPr>
          <p:nvPr>
            <p:ph type="body" idx="14"/>
          </p:nvPr>
        </p:nvSpPr>
        <p:spPr>
          <a:xfrm>
            <a:off x="644652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10"/>
          <p:cNvSpPr>
            <a:spLocks noGrp="1"/>
          </p:cNvSpPr>
          <p:nvPr>
            <p:ph type="body" idx="15"/>
          </p:nvPr>
        </p:nvSpPr>
        <p:spPr>
          <a:xfrm>
            <a:off x="7223760" y="262432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Capability Two</a:t>
            </a:r>
            <a:endParaRPr lang="en-US" sz="2000" dirty="0"/>
          </a:p>
        </p:txBody>
      </p:sp>
      <p:sp>
        <p:nvSpPr>
          <p:cNvPr id="10" name="Text 11"/>
          <p:cNvSpPr>
            <a:spLocks noGrp="1"/>
          </p:cNvSpPr>
          <p:nvPr>
            <p:ph type="body" idx="16"/>
          </p:nvPr>
        </p:nvSpPr>
        <p:spPr>
          <a:xfrm>
            <a:off x="7223760" y="320040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 or two-sentence description of this capability and the value it delivers.</a:t>
            </a:r>
            <a:endParaRPr lang="en-US" sz="1300" dirty="0"/>
          </a:p>
        </p:txBody>
      </p:sp>
      <p:sp>
        <p:nvSpPr>
          <p:cNvPr id="11" name="Text 14"/>
          <p:cNvSpPr>
            <a:spLocks noGrp="1"/>
          </p:cNvSpPr>
          <p:nvPr>
            <p:ph type="body" idx="17"/>
          </p:nvPr>
        </p:nvSpPr>
        <p:spPr>
          <a:xfrm>
            <a:off x="822960" y="4663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5"/>
          <p:cNvSpPr>
            <a:spLocks noGrp="1"/>
          </p:cNvSpPr>
          <p:nvPr>
            <p:ph type="body" idx="18"/>
          </p:nvPr>
        </p:nvSpPr>
        <p:spPr>
          <a:xfrm>
            <a:off x="1600200" y="468172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Capability Three</a:t>
            </a:r>
            <a:endParaRPr lang="en-US" sz="2000" dirty="0"/>
          </a:p>
        </p:txBody>
      </p:sp>
      <p:sp>
        <p:nvSpPr>
          <p:cNvPr id="13" name="Text 16"/>
          <p:cNvSpPr>
            <a:spLocks noGrp="1"/>
          </p:cNvSpPr>
          <p:nvPr>
            <p:ph type="body" idx="19"/>
          </p:nvPr>
        </p:nvSpPr>
        <p:spPr>
          <a:xfrm>
            <a:off x="1600200" y="525780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 or two-sentence description of this capability and the value it delivers.</a:t>
            </a:r>
            <a:endParaRPr lang="en-US" sz="1300" dirty="0"/>
          </a:p>
        </p:txBody>
      </p:sp>
      <p:sp>
        <p:nvSpPr>
          <p:cNvPr id="14" name="Text 19"/>
          <p:cNvSpPr>
            <a:spLocks noGrp="1"/>
          </p:cNvSpPr>
          <p:nvPr>
            <p:ph type="body" idx="20"/>
          </p:nvPr>
        </p:nvSpPr>
        <p:spPr>
          <a:xfrm>
            <a:off x="6446520" y="4663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20"/>
          <p:cNvSpPr>
            <a:spLocks noGrp="1"/>
          </p:cNvSpPr>
          <p:nvPr>
            <p:ph type="body" idx="21"/>
          </p:nvPr>
        </p:nvSpPr>
        <p:spPr>
          <a:xfrm>
            <a:off x="7223760" y="468172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Capability Four</a:t>
            </a:r>
            <a:endParaRPr lang="en-US" sz="2000" dirty="0"/>
          </a:p>
        </p:txBody>
      </p:sp>
      <p:sp>
        <p:nvSpPr>
          <p:cNvPr id="16" name="Text 21"/>
          <p:cNvSpPr>
            <a:spLocks noGrp="1"/>
          </p:cNvSpPr>
          <p:nvPr>
            <p:ph type="body" idx="22"/>
          </p:nvPr>
        </p:nvSpPr>
        <p:spPr>
          <a:xfrm>
            <a:off x="7223760" y="525780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 or two-sentence description of this capability and the value it delivers.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 Layout</a:t>
            </a:r>
            <a:endParaRPr lang="en-US" sz="3200" dirty="0"/>
          </a:p>
        </p:txBody>
      </p:sp>
      <p:sp>
        <p:nvSpPr>
          <p:cNvPr id="4" name="Text 1"/>
          <p:cNvSpPr>
            <a:spLocks noGrp="1"/>
          </p:cNvSpPr>
          <p:nvPr>
            <p:ph type="body" idx="10"/>
          </p:nvPr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Five-step sequence — works for methodology, phases, or a customer journey.</a:t>
            </a:r>
            <a:endParaRPr lang="en-US" sz="1400" dirty="0"/>
          </a:p>
        </p:txBody>
      </p:sp>
      <p:sp>
        <p:nvSpPr>
          <p:cNvPr id="5" name="Text 4"/>
          <p:cNvSpPr>
            <a:spLocks noGrp="1"/>
          </p:cNvSpPr>
          <p:nvPr>
            <p:ph type="body" idx="11"/>
          </p:nvPr>
        </p:nvSpPr>
        <p:spPr>
          <a:xfrm>
            <a:off x="1158088" y="3017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5"/>
          <p:cNvSpPr>
            <a:spLocks noGrp="1"/>
          </p:cNvSpPr>
          <p:nvPr>
            <p:ph type="body" idx="12"/>
          </p:nvPr>
        </p:nvSpPr>
        <p:spPr>
          <a:xfrm>
            <a:off x="563728" y="4069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</a:t>
            </a:r>
            <a:endParaRPr lang="en-US" sz="1600" dirty="0"/>
          </a:p>
        </p:txBody>
      </p:sp>
      <p:sp>
        <p:nvSpPr>
          <p:cNvPr id="7" name="Text 6"/>
          <p:cNvSpPr>
            <a:spLocks noGrp="1"/>
          </p:cNvSpPr>
          <p:nvPr>
            <p:ph type="body" idx="13"/>
          </p:nvPr>
        </p:nvSpPr>
        <p:spPr>
          <a:xfrm>
            <a:off x="609448" y="45262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context and constraints.</a:t>
            </a:r>
            <a:endParaRPr lang="en-US" sz="1100" dirty="0"/>
          </a:p>
        </p:txBody>
      </p:sp>
      <p:sp>
        <p:nvSpPr>
          <p:cNvPr id="8" name="Text 8"/>
          <p:cNvSpPr>
            <a:spLocks noGrp="1"/>
          </p:cNvSpPr>
          <p:nvPr>
            <p:ph type="body" idx="14"/>
          </p:nvPr>
        </p:nvSpPr>
        <p:spPr>
          <a:xfrm>
            <a:off x="3398368" y="3017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9"/>
          <p:cNvSpPr>
            <a:spLocks noGrp="1"/>
          </p:cNvSpPr>
          <p:nvPr>
            <p:ph type="body" idx="15"/>
          </p:nvPr>
        </p:nvSpPr>
        <p:spPr>
          <a:xfrm>
            <a:off x="2804008" y="4069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</a:t>
            </a:r>
            <a:endParaRPr lang="en-US" sz="1600" dirty="0"/>
          </a:p>
        </p:txBody>
      </p:sp>
      <p:sp>
        <p:nvSpPr>
          <p:cNvPr id="10" name="Text 10"/>
          <p:cNvSpPr>
            <a:spLocks noGrp="1"/>
          </p:cNvSpPr>
          <p:nvPr>
            <p:ph type="body" idx="16"/>
          </p:nvPr>
        </p:nvSpPr>
        <p:spPr>
          <a:xfrm>
            <a:off x="2849728" y="45262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the problem and success criteria.</a:t>
            </a:r>
            <a:endParaRPr lang="en-US" sz="1100" dirty="0"/>
          </a:p>
        </p:txBody>
      </p:sp>
      <p:sp>
        <p:nvSpPr>
          <p:cNvPr id="11" name="Text 12"/>
          <p:cNvSpPr>
            <a:spLocks noGrp="1"/>
          </p:cNvSpPr>
          <p:nvPr>
            <p:ph type="body" idx="17"/>
          </p:nvPr>
        </p:nvSpPr>
        <p:spPr>
          <a:xfrm>
            <a:off x="5638648" y="3017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2" name="Text 13"/>
          <p:cNvSpPr>
            <a:spLocks noGrp="1"/>
          </p:cNvSpPr>
          <p:nvPr>
            <p:ph type="body" idx="18"/>
          </p:nvPr>
        </p:nvSpPr>
        <p:spPr>
          <a:xfrm>
            <a:off x="5044288" y="4069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</a:t>
            </a:r>
            <a:endParaRPr lang="en-US" sz="1600" dirty="0"/>
          </a:p>
        </p:txBody>
      </p:sp>
      <p:sp>
        <p:nvSpPr>
          <p:cNvPr id="13" name="Text 14"/>
          <p:cNvSpPr>
            <a:spLocks noGrp="1"/>
          </p:cNvSpPr>
          <p:nvPr>
            <p:ph type="body" idx="19"/>
          </p:nvPr>
        </p:nvSpPr>
        <p:spPr>
          <a:xfrm>
            <a:off x="5090008" y="45262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options and select an approach.</a:t>
            </a:r>
            <a:endParaRPr lang="en-US" sz="1100" dirty="0"/>
          </a:p>
        </p:txBody>
      </p:sp>
      <p:sp>
        <p:nvSpPr>
          <p:cNvPr id="14" name="Text 16"/>
          <p:cNvSpPr>
            <a:spLocks noGrp="1"/>
          </p:cNvSpPr>
          <p:nvPr>
            <p:ph type="body" idx="20"/>
          </p:nvPr>
        </p:nvSpPr>
        <p:spPr>
          <a:xfrm>
            <a:off x="7878928" y="3017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15" name="Text 17"/>
          <p:cNvSpPr>
            <a:spLocks noGrp="1"/>
          </p:cNvSpPr>
          <p:nvPr>
            <p:ph type="body" idx="21"/>
          </p:nvPr>
        </p:nvSpPr>
        <p:spPr>
          <a:xfrm>
            <a:off x="7284568" y="4069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</a:t>
            </a:r>
            <a:endParaRPr lang="en-US" sz="1600" dirty="0"/>
          </a:p>
        </p:txBody>
      </p:sp>
      <p:sp>
        <p:nvSpPr>
          <p:cNvPr id="16" name="Text 18"/>
          <p:cNvSpPr>
            <a:spLocks noGrp="1"/>
          </p:cNvSpPr>
          <p:nvPr>
            <p:ph type="body" idx="22"/>
          </p:nvPr>
        </p:nvSpPr>
        <p:spPr>
          <a:xfrm>
            <a:off x="7330288" y="45262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with discipline and feedback.</a:t>
            </a:r>
            <a:endParaRPr lang="en-US" sz="1100" dirty="0"/>
          </a:p>
        </p:txBody>
      </p:sp>
      <p:sp>
        <p:nvSpPr>
          <p:cNvPr id="17" name="Text 20"/>
          <p:cNvSpPr>
            <a:spLocks noGrp="1"/>
          </p:cNvSpPr>
          <p:nvPr>
            <p:ph type="body" idx="23"/>
          </p:nvPr>
        </p:nvSpPr>
        <p:spPr>
          <a:xfrm>
            <a:off x="10119208" y="3017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18" name="Text 21"/>
          <p:cNvSpPr>
            <a:spLocks noGrp="1"/>
          </p:cNvSpPr>
          <p:nvPr>
            <p:ph type="body" idx="24"/>
          </p:nvPr>
        </p:nvSpPr>
        <p:spPr>
          <a:xfrm>
            <a:off x="9524848" y="4069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Sustain</a:t>
            </a:r>
            <a:endParaRPr lang="en-US" sz="1600" dirty="0"/>
          </a:p>
        </p:txBody>
      </p:sp>
      <p:sp>
        <p:nvSpPr>
          <p:cNvPr id="19" name="Text 22"/>
          <p:cNvSpPr>
            <a:spLocks noGrp="1"/>
          </p:cNvSpPr>
          <p:nvPr>
            <p:ph type="body" idx="25"/>
          </p:nvPr>
        </p:nvSpPr>
        <p:spPr>
          <a:xfrm>
            <a:off x="9570568" y="45262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Embed, measure, and refine over time.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548640" y="14630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0" b="1" dirty="0">
                <a:solidFill>
                  <a:srgbClr val="0E5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4" name="Text 1"/>
          <p:cNvSpPr>
            <a:spLocks noGrp="1"/>
          </p:cNvSpPr>
          <p:nvPr>
            <p:ph type="body" idx="10"/>
          </p:nvPr>
        </p:nvSpPr>
        <p:spPr>
          <a:xfrm>
            <a:off x="2194560" y="1828800"/>
            <a:ext cx="9418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Insert a pull quote, customer testimonial, or guiding principle here. Keep it under twenty-five words for visual impact.</a:t>
            </a:r>
            <a:endParaRPr lang="en-US" sz="2600" dirty="0"/>
          </a:p>
        </p:txBody>
      </p:sp>
      <p:sp>
        <p:nvSpPr>
          <p:cNvPr id="5" name="Text 3"/>
          <p:cNvSpPr>
            <a:spLocks noGrp="1"/>
          </p:cNvSpPr>
          <p:nvPr>
            <p:ph type="body" idx="11"/>
          </p:nvPr>
        </p:nvSpPr>
        <p:spPr>
          <a:xfrm>
            <a:off x="2194560" y="46177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Name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Organization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548640" y="23774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4" name="Text 2"/>
          <p:cNvSpPr>
            <a:spLocks noGrp="1"/>
          </p:cNvSpPr>
          <p:nvPr>
            <p:ph type="body" idx="10"/>
          </p:nvPr>
        </p:nvSpPr>
        <p:spPr>
          <a:xfrm>
            <a:off x="548640" y="402336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8F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or follow-up: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name@gamutservices.com</a:t>
            </a:r>
            <a:endParaRPr lang="en-US" sz="1300" dirty="0"/>
          </a:p>
          <a:p>
            <a:pPr marL="0" indent="0">
              <a:buNone/>
            </a:pPr>
            <a:r>
              <a:rPr lang="en-US" sz="1400" dirty="0">
                <a:solidFill>
                  <a:srgbClr val="BFC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gamutservices.com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Reference</a:t>
            </a:r>
            <a:endParaRPr lang="en-US" sz="3200" dirty="0"/>
          </a:p>
        </p:txBody>
      </p:sp>
      <p:sp>
        <p:nvSpPr>
          <p:cNvPr id="4" name="Text 1"/>
          <p:cNvSpPr>
            <a:spLocks noGrp="1"/>
          </p:cNvSpPr>
          <p:nvPr>
            <p:ph type="body" idx="10"/>
          </p:nvPr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for the design system used by this template.</a:t>
            </a:r>
            <a:endParaRPr lang="en-US" sz="1400" dirty="0"/>
          </a:p>
        </p:txBody>
      </p:sp>
      <p:sp>
        <p:nvSpPr>
          <p:cNvPr id="5" name="Text 2"/>
          <p:cNvSpPr>
            <a:spLocks noGrp="1"/>
          </p:cNvSpPr>
          <p:nvPr>
            <p:ph type="body" idx="11"/>
          </p:nvPr>
        </p:nvSpPr>
        <p:spPr>
          <a:xfrm>
            <a:off x="548640" y="2148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palette</a:t>
            </a:r>
            <a:endParaRPr lang="en-US" sz="1100" dirty="0"/>
          </a:p>
        </p:txBody>
      </p:sp>
      <p:sp>
        <p:nvSpPr>
          <p:cNvPr id="6" name="Text 4"/>
          <p:cNvSpPr>
            <a:spLocks noGrp="1"/>
          </p:cNvSpPr>
          <p:nvPr>
            <p:ph type="body" idx="12"/>
          </p:nvPr>
        </p:nvSpPr>
        <p:spPr>
          <a:xfrm>
            <a:off x="548640" y="3520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000" dirty="0"/>
          </a:p>
        </p:txBody>
      </p:sp>
      <p:sp>
        <p:nvSpPr>
          <p:cNvPr id="7" name="Text 5"/>
          <p:cNvSpPr>
            <a:spLocks noGrp="1"/>
          </p:cNvSpPr>
          <p:nvPr>
            <p:ph type="body" idx="13"/>
          </p:nvPr>
        </p:nvSpPr>
        <p:spPr>
          <a:xfrm>
            <a:off x="548640" y="37673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#0E5A66</a:t>
            </a:r>
            <a:endParaRPr lang="en-US" sz="900" dirty="0"/>
          </a:p>
        </p:txBody>
      </p:sp>
      <p:sp>
        <p:nvSpPr>
          <p:cNvPr id="8" name="Text 7"/>
          <p:cNvSpPr>
            <a:spLocks noGrp="1"/>
          </p:cNvSpPr>
          <p:nvPr>
            <p:ph type="body" idx="14"/>
          </p:nvPr>
        </p:nvSpPr>
        <p:spPr>
          <a:xfrm>
            <a:off x="1600200" y="3520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Dk</a:t>
            </a:r>
            <a:endParaRPr lang="en-US" sz="1000" dirty="0"/>
          </a:p>
        </p:txBody>
      </p:sp>
      <p:sp>
        <p:nvSpPr>
          <p:cNvPr id="9" name="Text 8"/>
          <p:cNvSpPr>
            <a:spLocks noGrp="1"/>
          </p:cNvSpPr>
          <p:nvPr>
            <p:ph type="body" idx="15"/>
          </p:nvPr>
        </p:nvSpPr>
        <p:spPr>
          <a:xfrm>
            <a:off x="1600200" y="37673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#0A444E</a:t>
            </a:r>
            <a:endParaRPr lang="en-US" sz="900" dirty="0"/>
          </a:p>
        </p:txBody>
      </p:sp>
      <p:sp>
        <p:nvSpPr>
          <p:cNvPr id="10" name="Text 10"/>
          <p:cNvSpPr>
            <a:spLocks noGrp="1"/>
          </p:cNvSpPr>
          <p:nvPr>
            <p:ph type="body" idx="16"/>
          </p:nvPr>
        </p:nvSpPr>
        <p:spPr>
          <a:xfrm>
            <a:off x="2651760" y="3520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000" dirty="0"/>
          </a:p>
        </p:txBody>
      </p:sp>
      <p:sp>
        <p:nvSpPr>
          <p:cNvPr id="11" name="Text 11"/>
          <p:cNvSpPr>
            <a:spLocks noGrp="1"/>
          </p:cNvSpPr>
          <p:nvPr>
            <p:ph type="body" idx="17"/>
          </p:nvPr>
        </p:nvSpPr>
        <p:spPr>
          <a:xfrm>
            <a:off x="2651760" y="37673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#1F8A99</a:t>
            </a:r>
            <a:endParaRPr lang="en-US" sz="900" dirty="0"/>
          </a:p>
        </p:txBody>
      </p:sp>
      <p:sp>
        <p:nvSpPr>
          <p:cNvPr id="12" name="Text 13"/>
          <p:cNvSpPr>
            <a:spLocks noGrp="1"/>
          </p:cNvSpPr>
          <p:nvPr>
            <p:ph type="body" idx="18"/>
          </p:nvPr>
        </p:nvSpPr>
        <p:spPr>
          <a:xfrm>
            <a:off x="3703320" y="3520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</a:t>
            </a:r>
            <a:endParaRPr lang="en-US" sz="1000" dirty="0"/>
          </a:p>
        </p:txBody>
      </p:sp>
      <p:sp>
        <p:nvSpPr>
          <p:cNvPr id="13" name="Text 14"/>
          <p:cNvSpPr>
            <a:spLocks noGrp="1"/>
          </p:cNvSpPr>
          <p:nvPr>
            <p:ph type="body" idx="19"/>
          </p:nvPr>
        </p:nvSpPr>
        <p:spPr>
          <a:xfrm>
            <a:off x="3703320" y="37673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#C97B3C</a:t>
            </a:r>
            <a:endParaRPr lang="en-US" sz="900" dirty="0"/>
          </a:p>
        </p:txBody>
      </p:sp>
      <p:sp>
        <p:nvSpPr>
          <p:cNvPr id="14" name="Text 16"/>
          <p:cNvSpPr>
            <a:spLocks noGrp="1"/>
          </p:cNvSpPr>
          <p:nvPr>
            <p:ph type="body" idx="20"/>
          </p:nvPr>
        </p:nvSpPr>
        <p:spPr>
          <a:xfrm>
            <a:off x="4754880" y="3520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</a:t>
            </a:r>
            <a:endParaRPr lang="en-US" sz="1000" dirty="0"/>
          </a:p>
        </p:txBody>
      </p:sp>
      <p:sp>
        <p:nvSpPr>
          <p:cNvPr id="15" name="Text 17"/>
          <p:cNvSpPr>
            <a:spLocks noGrp="1"/>
          </p:cNvSpPr>
          <p:nvPr>
            <p:ph type="body" idx="21"/>
          </p:nvPr>
        </p:nvSpPr>
        <p:spPr>
          <a:xfrm>
            <a:off x="4754880" y="37673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#1A2A33</a:t>
            </a:r>
            <a:endParaRPr lang="en-US" sz="900" dirty="0"/>
          </a:p>
        </p:txBody>
      </p:sp>
      <p:sp>
        <p:nvSpPr>
          <p:cNvPr id="16" name="Text 19"/>
          <p:cNvSpPr>
            <a:spLocks noGrp="1"/>
          </p:cNvSpPr>
          <p:nvPr>
            <p:ph type="body" idx="22"/>
          </p:nvPr>
        </p:nvSpPr>
        <p:spPr>
          <a:xfrm>
            <a:off x="5806440" y="3520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Muted</a:t>
            </a:r>
            <a:endParaRPr lang="en-US" sz="1000" dirty="0"/>
          </a:p>
        </p:txBody>
      </p:sp>
      <p:sp>
        <p:nvSpPr>
          <p:cNvPr id="17" name="Text 20"/>
          <p:cNvSpPr>
            <a:spLocks noGrp="1"/>
          </p:cNvSpPr>
          <p:nvPr>
            <p:ph type="body" idx="23"/>
          </p:nvPr>
        </p:nvSpPr>
        <p:spPr>
          <a:xfrm>
            <a:off x="5806440" y="37673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#5A6B73</a:t>
            </a:r>
            <a:endParaRPr lang="en-US" sz="900" dirty="0"/>
          </a:p>
        </p:txBody>
      </p:sp>
      <p:sp>
        <p:nvSpPr>
          <p:cNvPr id="18" name="Text 21"/>
          <p:cNvSpPr>
            <a:spLocks noGrp="1"/>
          </p:cNvSpPr>
          <p:nvPr>
            <p:ph type="body" idx="24"/>
          </p:nvPr>
        </p:nvSpPr>
        <p:spPr>
          <a:xfrm>
            <a:off x="548640" y="4251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100" dirty="0"/>
          </a:p>
        </p:txBody>
      </p:sp>
      <p:sp>
        <p:nvSpPr>
          <p:cNvPr id="19" name="Text 22"/>
          <p:cNvSpPr>
            <a:spLocks noGrp="1"/>
          </p:cNvSpPr>
          <p:nvPr>
            <p:ph type="body" idx="25"/>
          </p:nvPr>
        </p:nvSpPr>
        <p:spPr>
          <a:xfrm>
            <a:off x="548640" y="46177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Heading — Georgia Bold</a:t>
            </a:r>
            <a:endParaRPr lang="en-US" sz="2800" dirty="0"/>
          </a:p>
        </p:txBody>
      </p:sp>
      <p:sp>
        <p:nvSpPr>
          <p:cNvPr id="20" name="Text 23"/>
          <p:cNvSpPr>
            <a:spLocks noGrp="1"/>
          </p:cNvSpPr>
          <p:nvPr>
            <p:ph type="body" idx="26"/>
          </p:nvPr>
        </p:nvSpPr>
        <p:spPr>
          <a:xfrm>
            <a:off x="548640" y="5212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— Calibri Regular. Used for paragraphs, bullet points, captions, and table content throughout the deck.</a:t>
            </a:r>
            <a:endParaRPr lang="en-US" sz="1400" dirty="0"/>
          </a:p>
        </p:txBody>
      </p:sp>
      <p:sp>
        <p:nvSpPr>
          <p:cNvPr id="21" name="Text 24"/>
          <p:cNvSpPr>
            <a:spLocks noGrp="1"/>
          </p:cNvSpPr>
          <p:nvPr>
            <p:ph type="body" idx="27"/>
          </p:nvPr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/ EYEBROW — CALIBRI BOLD, TRACKED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Presentation Title</vt:lpstr>
      <vt:lpstr>Agenda</vt:lpstr>
      <vt:lpstr>01</vt:lpstr>
      <vt:lpstr>Title and Content Layout</vt:lpstr>
      <vt:lpstr>Two-Column Layout</vt:lpstr>
      <vt:lpstr>Key Metrics Layout</vt:lpstr>
      <vt:lpstr>Chart Layout</vt:lpstr>
      <vt:lpstr>Table Layout</vt:lpstr>
      <vt:lpstr>Four-Up Layout</vt:lpstr>
      <vt:lpstr>Process Layout</vt:lpstr>
      <vt:lpstr>“</vt:lpstr>
      <vt:lpstr>Thank You</vt:lpstr>
      <vt:lpstr>Brand Reference</vt:lpstr>
    </vt:vector>
  </TitlesOfParts>
  <Company>Gamut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Gamut Services Presentation Template</dc:title>
  <dc:subject>Corporate template for new presentations</dc:subject>
  <dc:creator>Gamut Services</dc:creator>
  <cp:lastModifiedBy>Gamut Services</cp:lastModifiedBy>
  <cp:revision>3</cp:revision>
  <dcterms:created xsi:type="dcterms:W3CDTF">2026-05-18T22:58:38Z</dcterms:created>
  <dcterms:modified xsi:type="dcterms:W3CDTF">2026-06-25T20:26:38Z</dcterms:modified>
</cp:coreProperties>
</file>